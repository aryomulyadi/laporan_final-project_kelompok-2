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Helvetica World Bold" charset="1" panose="020B0800040000020004"/>
      <p:regular r:id="rId20"/>
    </p:embeddedFont>
    <p:embeddedFont>
      <p:font typeface="Helvetica World" charset="1" panose="020B050004000002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5.png" Type="http://schemas.openxmlformats.org/officeDocument/2006/relationships/image"/><Relationship Id="rId16" Target="../media/image8.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2571" y="-3376224"/>
            <a:ext cx="3882542" cy="5649201"/>
          </a:xfrm>
          <a:custGeom>
            <a:avLst/>
            <a:gdLst/>
            <a:ahLst/>
            <a:cxnLst/>
            <a:rect r="r" b="b" t="t" l="l"/>
            <a:pathLst>
              <a:path h="5649201" w="3882542">
                <a:moveTo>
                  <a:pt x="0" y="0"/>
                </a:moveTo>
                <a:lnTo>
                  <a:pt x="3882542" y="0"/>
                </a:lnTo>
                <a:lnTo>
                  <a:pt x="3882542" y="5649201"/>
                </a:lnTo>
                <a:lnTo>
                  <a:pt x="0" y="56492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01474" y="1028700"/>
            <a:ext cx="898770" cy="756494"/>
          </a:xfrm>
          <a:custGeom>
            <a:avLst/>
            <a:gdLst/>
            <a:ahLst/>
            <a:cxnLst/>
            <a:rect r="r" b="b" t="t" l="l"/>
            <a:pathLst>
              <a:path h="756494" w="898770">
                <a:moveTo>
                  <a:pt x="0" y="0"/>
                </a:moveTo>
                <a:lnTo>
                  <a:pt x="898771" y="0"/>
                </a:lnTo>
                <a:lnTo>
                  <a:pt x="898771" y="756494"/>
                </a:lnTo>
                <a:lnTo>
                  <a:pt x="0" y="7564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2700000">
            <a:off x="7802116" y="-1534498"/>
            <a:ext cx="16073585" cy="8036793"/>
            <a:chOff x="0" y="0"/>
            <a:chExt cx="812800" cy="406400"/>
          </a:xfrm>
        </p:grpSpPr>
        <p:sp>
          <p:nvSpPr>
            <p:cNvPr name="Freeform 5" id="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2A2A6D"/>
            </a:solidFill>
          </p:spPr>
        </p:sp>
        <p:sp>
          <p:nvSpPr>
            <p:cNvPr name="TextBox 6" id="6"/>
            <p:cNvSpPr txBox="true"/>
            <p:nvPr/>
          </p:nvSpPr>
          <p:spPr>
            <a:xfrm>
              <a:off x="0" y="-190500"/>
              <a:ext cx="812800" cy="596900"/>
            </a:xfrm>
            <a:prstGeom prst="rect">
              <a:avLst/>
            </a:prstGeom>
          </p:spPr>
          <p:txBody>
            <a:bodyPr anchor="ctr" rtlCol="false" tIns="50800" lIns="50800" bIns="50800" rIns="50800"/>
            <a:lstStyle/>
            <a:p>
              <a:pPr algn="ctr">
                <a:lnSpc>
                  <a:spcPts val="4600"/>
                </a:lnSpc>
              </a:pPr>
            </a:p>
          </p:txBody>
        </p:sp>
      </p:grpSp>
      <p:sp>
        <p:nvSpPr>
          <p:cNvPr name="Freeform 7" id="7"/>
          <p:cNvSpPr/>
          <p:nvPr/>
        </p:nvSpPr>
        <p:spPr>
          <a:xfrm flipH="false" flipV="false" rot="0">
            <a:off x="8301944" y="866132"/>
            <a:ext cx="9340557" cy="9328881"/>
          </a:xfrm>
          <a:custGeom>
            <a:avLst/>
            <a:gdLst/>
            <a:ahLst/>
            <a:cxnLst/>
            <a:rect r="r" b="b" t="t" l="l"/>
            <a:pathLst>
              <a:path h="9328881" w="9340557">
                <a:moveTo>
                  <a:pt x="0" y="0"/>
                </a:moveTo>
                <a:lnTo>
                  <a:pt x="9340557" y="0"/>
                </a:lnTo>
                <a:lnTo>
                  <a:pt x="9340557" y="9328881"/>
                </a:lnTo>
                <a:lnTo>
                  <a:pt x="0" y="9328881"/>
                </a:lnTo>
                <a:lnTo>
                  <a:pt x="0" y="0"/>
                </a:lnTo>
                <a:close/>
              </a:path>
            </a:pathLst>
          </a:custGeom>
          <a:blipFill>
            <a:blip r:embed="rId6"/>
            <a:stretch>
              <a:fillRect l="0" t="0" r="0" b="0"/>
            </a:stretch>
          </a:blipFill>
        </p:spPr>
      </p:sp>
      <p:sp>
        <p:nvSpPr>
          <p:cNvPr name="Freeform 8" id="8"/>
          <p:cNvSpPr/>
          <p:nvPr/>
        </p:nvSpPr>
        <p:spPr>
          <a:xfrm flipH="false" flipV="false" rot="0">
            <a:off x="14423256" y="1522667"/>
            <a:ext cx="2386649" cy="2360612"/>
          </a:xfrm>
          <a:custGeom>
            <a:avLst/>
            <a:gdLst/>
            <a:ahLst/>
            <a:cxnLst/>
            <a:rect r="r" b="b" t="t" l="l"/>
            <a:pathLst>
              <a:path h="2360612" w="2386649">
                <a:moveTo>
                  <a:pt x="0" y="0"/>
                </a:moveTo>
                <a:lnTo>
                  <a:pt x="2386648" y="0"/>
                </a:lnTo>
                <a:lnTo>
                  <a:pt x="2386648" y="2360612"/>
                </a:lnTo>
                <a:lnTo>
                  <a:pt x="0" y="23606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a:grpSpLocks noChangeAspect="true"/>
          </p:cNvGrpSpPr>
          <p:nvPr/>
        </p:nvGrpSpPr>
        <p:grpSpPr>
          <a:xfrm rot="0">
            <a:off x="9613917" y="2049278"/>
            <a:ext cx="6716612" cy="6716612"/>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FFFFFF"/>
            </a:solidFill>
          </p:spPr>
        </p:sp>
        <p:sp>
          <p:nvSpPr>
            <p:cNvPr name="Freeform 11" id="11"/>
            <p:cNvSpPr/>
            <p:nvPr/>
          </p:nvSpPr>
          <p:spPr>
            <a:xfrm flipH="false" flipV="false" rot="0">
              <a:off x="353169" y="339062"/>
              <a:ext cx="5643663" cy="5618537"/>
            </a:xfrm>
            <a:custGeom>
              <a:avLst/>
              <a:gdLst/>
              <a:ahLst/>
              <a:cxnLst/>
              <a:rect r="r" b="b" t="t" l="l"/>
              <a:pathLst>
                <a:path h="5618537" w="5643663">
                  <a:moveTo>
                    <a:pt x="2821831" y="28"/>
                  </a:moveTo>
                  <a:cubicBezTo>
                    <a:pt x="1815193" y="-4474"/>
                    <a:pt x="883090" y="529978"/>
                    <a:pt x="378467" y="1401009"/>
                  </a:cubicBezTo>
                  <a:cubicBezTo>
                    <a:pt x="-126156" y="2272040"/>
                    <a:pt x="-126156" y="3346496"/>
                    <a:pt x="378467" y="4217527"/>
                  </a:cubicBezTo>
                  <a:cubicBezTo>
                    <a:pt x="883090" y="5088559"/>
                    <a:pt x="1815193" y="5623010"/>
                    <a:pt x="2821831" y="5618508"/>
                  </a:cubicBezTo>
                  <a:cubicBezTo>
                    <a:pt x="3828469" y="5623010"/>
                    <a:pt x="4760572" y="5088559"/>
                    <a:pt x="5265195" y="4217527"/>
                  </a:cubicBezTo>
                  <a:cubicBezTo>
                    <a:pt x="5769818" y="3346496"/>
                    <a:pt x="5769818" y="2272040"/>
                    <a:pt x="5265195" y="1401009"/>
                  </a:cubicBezTo>
                  <a:cubicBezTo>
                    <a:pt x="4760572" y="529978"/>
                    <a:pt x="3828469" y="-4474"/>
                    <a:pt x="2821831" y="28"/>
                  </a:cubicBezTo>
                  <a:close/>
                </a:path>
              </a:pathLst>
            </a:custGeom>
            <a:blipFill>
              <a:blip r:embed="rId9"/>
              <a:stretch>
                <a:fillRect l="223" t="-24931" r="223" b="-24931"/>
              </a:stretch>
            </a:blipFill>
          </p:spPr>
        </p:sp>
      </p:grpSp>
      <p:sp>
        <p:nvSpPr>
          <p:cNvPr name="Freeform 12" id="12"/>
          <p:cNvSpPr/>
          <p:nvPr/>
        </p:nvSpPr>
        <p:spPr>
          <a:xfrm flipH="false" flipV="false" rot="0">
            <a:off x="-912571" y="9776446"/>
            <a:ext cx="7781228" cy="877157"/>
          </a:xfrm>
          <a:custGeom>
            <a:avLst/>
            <a:gdLst/>
            <a:ahLst/>
            <a:cxnLst/>
            <a:rect r="r" b="b" t="t" l="l"/>
            <a:pathLst>
              <a:path h="877157" w="7781228">
                <a:moveTo>
                  <a:pt x="0" y="0"/>
                </a:moveTo>
                <a:lnTo>
                  <a:pt x="7781228" y="0"/>
                </a:lnTo>
                <a:lnTo>
                  <a:pt x="7781228" y="877157"/>
                </a:lnTo>
                <a:lnTo>
                  <a:pt x="0" y="8771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2700000">
            <a:off x="9566017" y="1397112"/>
            <a:ext cx="2891014" cy="441512"/>
            <a:chOff x="0" y="0"/>
            <a:chExt cx="2661101" cy="406400"/>
          </a:xfrm>
        </p:grpSpPr>
        <p:sp>
          <p:nvSpPr>
            <p:cNvPr name="Freeform 14" id="14"/>
            <p:cNvSpPr/>
            <p:nvPr/>
          </p:nvSpPr>
          <p:spPr>
            <a:xfrm flipH="false" flipV="false" rot="0">
              <a:off x="0" y="0"/>
              <a:ext cx="2661101" cy="406400"/>
            </a:xfrm>
            <a:custGeom>
              <a:avLst/>
              <a:gdLst/>
              <a:ahLst/>
              <a:cxnLst/>
              <a:rect r="r" b="b" t="t" l="l"/>
              <a:pathLst>
                <a:path h="406400" w="2661101">
                  <a:moveTo>
                    <a:pt x="2457901" y="0"/>
                  </a:moveTo>
                  <a:cubicBezTo>
                    <a:pt x="2570125" y="0"/>
                    <a:pt x="2661101" y="90976"/>
                    <a:pt x="2661101" y="203200"/>
                  </a:cubicBezTo>
                  <a:cubicBezTo>
                    <a:pt x="2661101" y="315424"/>
                    <a:pt x="2570125" y="406400"/>
                    <a:pt x="2457901" y="406400"/>
                  </a:cubicBezTo>
                  <a:lnTo>
                    <a:pt x="203200" y="406400"/>
                  </a:lnTo>
                  <a:cubicBezTo>
                    <a:pt x="90976" y="406400"/>
                    <a:pt x="0" y="315424"/>
                    <a:pt x="0" y="203200"/>
                  </a:cubicBezTo>
                  <a:cubicBezTo>
                    <a:pt x="0" y="90976"/>
                    <a:pt x="90976" y="0"/>
                    <a:pt x="203200" y="0"/>
                  </a:cubicBezTo>
                  <a:close/>
                </a:path>
              </a:pathLst>
            </a:custGeom>
            <a:solidFill>
              <a:srgbClr val="62D7D7"/>
            </a:solidFill>
          </p:spPr>
        </p:sp>
        <p:sp>
          <p:nvSpPr>
            <p:cNvPr name="TextBox 15" id="15"/>
            <p:cNvSpPr txBox="true"/>
            <p:nvPr/>
          </p:nvSpPr>
          <p:spPr>
            <a:xfrm>
              <a:off x="0" y="-190500"/>
              <a:ext cx="2661101" cy="596900"/>
            </a:xfrm>
            <a:prstGeom prst="rect">
              <a:avLst/>
            </a:prstGeom>
          </p:spPr>
          <p:txBody>
            <a:bodyPr anchor="ctr" rtlCol="false" tIns="50800" lIns="50800" bIns="50800" rIns="50800"/>
            <a:lstStyle/>
            <a:p>
              <a:pPr algn="ctr">
                <a:lnSpc>
                  <a:spcPts val="4600"/>
                </a:lnSpc>
              </a:pPr>
            </a:p>
          </p:txBody>
        </p:sp>
      </p:grpSp>
      <p:grpSp>
        <p:nvGrpSpPr>
          <p:cNvPr name="Group 16" id="16"/>
          <p:cNvGrpSpPr/>
          <p:nvPr/>
        </p:nvGrpSpPr>
        <p:grpSpPr>
          <a:xfrm rot="-2700000">
            <a:off x="16576857" y="5247254"/>
            <a:ext cx="3710328" cy="566637"/>
            <a:chOff x="0" y="0"/>
            <a:chExt cx="2661101" cy="406400"/>
          </a:xfrm>
        </p:grpSpPr>
        <p:sp>
          <p:nvSpPr>
            <p:cNvPr name="Freeform 17" id="17"/>
            <p:cNvSpPr/>
            <p:nvPr/>
          </p:nvSpPr>
          <p:spPr>
            <a:xfrm flipH="false" flipV="false" rot="0">
              <a:off x="0" y="0"/>
              <a:ext cx="2661101" cy="406400"/>
            </a:xfrm>
            <a:custGeom>
              <a:avLst/>
              <a:gdLst/>
              <a:ahLst/>
              <a:cxnLst/>
              <a:rect r="r" b="b" t="t" l="l"/>
              <a:pathLst>
                <a:path h="406400" w="2661101">
                  <a:moveTo>
                    <a:pt x="2457901" y="0"/>
                  </a:moveTo>
                  <a:cubicBezTo>
                    <a:pt x="2570125" y="0"/>
                    <a:pt x="2661101" y="90976"/>
                    <a:pt x="2661101" y="203200"/>
                  </a:cubicBezTo>
                  <a:cubicBezTo>
                    <a:pt x="2661101" y="315424"/>
                    <a:pt x="2570125" y="406400"/>
                    <a:pt x="2457901" y="406400"/>
                  </a:cubicBezTo>
                  <a:lnTo>
                    <a:pt x="203200" y="406400"/>
                  </a:lnTo>
                  <a:cubicBezTo>
                    <a:pt x="90976" y="406400"/>
                    <a:pt x="0" y="315424"/>
                    <a:pt x="0" y="203200"/>
                  </a:cubicBezTo>
                  <a:cubicBezTo>
                    <a:pt x="0" y="90976"/>
                    <a:pt x="90976" y="0"/>
                    <a:pt x="203200" y="0"/>
                  </a:cubicBezTo>
                  <a:close/>
                </a:path>
              </a:pathLst>
            </a:custGeom>
            <a:solidFill>
              <a:srgbClr val="62D7D7"/>
            </a:solidFill>
          </p:spPr>
        </p:sp>
        <p:sp>
          <p:nvSpPr>
            <p:cNvPr name="TextBox 18" id="18"/>
            <p:cNvSpPr txBox="true"/>
            <p:nvPr/>
          </p:nvSpPr>
          <p:spPr>
            <a:xfrm>
              <a:off x="0" y="-190500"/>
              <a:ext cx="2661101" cy="596900"/>
            </a:xfrm>
            <a:prstGeom prst="rect">
              <a:avLst/>
            </a:prstGeom>
          </p:spPr>
          <p:txBody>
            <a:bodyPr anchor="ctr" rtlCol="false" tIns="50800" lIns="50800" bIns="50800" rIns="50800"/>
            <a:lstStyle/>
            <a:p>
              <a:pPr algn="ctr">
                <a:lnSpc>
                  <a:spcPts val="4600"/>
                </a:lnSpc>
              </a:pPr>
            </a:p>
          </p:txBody>
        </p:sp>
      </p:grpSp>
      <p:sp>
        <p:nvSpPr>
          <p:cNvPr name="Freeform 19" id="19"/>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12">
              <a:extLst>
                <a:ext uri="{96DAC541-7B7A-43D3-8B79-37D633B846F1}">
                  <asvg:svgBlip xmlns:asvg="http://schemas.microsoft.com/office/drawing/2016/SVG/main" r:embed="rId13"/>
                </a:ext>
              </a:extLst>
            </a:blip>
            <a:stretch>
              <a:fillRect l="-102703" t="0" r="0" b="-369196"/>
            </a:stretch>
          </a:blipFill>
        </p:spPr>
      </p:sp>
      <p:sp>
        <p:nvSpPr>
          <p:cNvPr name="Freeform 20" id="20"/>
          <p:cNvSpPr/>
          <p:nvPr/>
        </p:nvSpPr>
        <p:spPr>
          <a:xfrm flipH="false" flipV="false" rot="0">
            <a:off x="7244898" y="1221209"/>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12">
              <a:extLst>
                <a:ext uri="{96DAC541-7B7A-43D3-8B79-37D633B846F1}">
                  <asvg:svgBlip xmlns:asvg="http://schemas.microsoft.com/office/drawing/2016/SVG/main" r:embed="rId13"/>
                </a:ext>
              </a:extLst>
            </a:blip>
            <a:stretch>
              <a:fillRect l="-102703" t="0" r="0" b="-369196"/>
            </a:stretch>
          </a:blipFill>
        </p:spPr>
      </p:sp>
      <p:sp>
        <p:nvSpPr>
          <p:cNvPr name="Freeform 21" id="21"/>
          <p:cNvSpPr/>
          <p:nvPr/>
        </p:nvSpPr>
        <p:spPr>
          <a:xfrm flipH="false" flipV="false" rot="0">
            <a:off x="8301944" y="8124434"/>
            <a:ext cx="1732906" cy="922773"/>
          </a:xfrm>
          <a:custGeom>
            <a:avLst/>
            <a:gdLst/>
            <a:ahLst/>
            <a:cxnLst/>
            <a:rect r="r" b="b" t="t" l="l"/>
            <a:pathLst>
              <a:path h="922773" w="1732906">
                <a:moveTo>
                  <a:pt x="0" y="0"/>
                </a:moveTo>
                <a:lnTo>
                  <a:pt x="1732907" y="0"/>
                </a:lnTo>
                <a:lnTo>
                  <a:pt x="1732907" y="922773"/>
                </a:lnTo>
                <a:lnTo>
                  <a:pt x="0" y="92277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15934159" y="8964750"/>
            <a:ext cx="2219822" cy="1230263"/>
          </a:xfrm>
          <a:custGeom>
            <a:avLst/>
            <a:gdLst/>
            <a:ahLst/>
            <a:cxnLst/>
            <a:rect r="r" b="b" t="t" l="l"/>
            <a:pathLst>
              <a:path h="1230263" w="2219822">
                <a:moveTo>
                  <a:pt x="0" y="0"/>
                </a:moveTo>
                <a:lnTo>
                  <a:pt x="2219821" y="0"/>
                </a:lnTo>
                <a:lnTo>
                  <a:pt x="2219821" y="1230263"/>
                </a:lnTo>
                <a:lnTo>
                  <a:pt x="0" y="1230263"/>
                </a:lnTo>
                <a:lnTo>
                  <a:pt x="0" y="0"/>
                </a:lnTo>
                <a:close/>
              </a:path>
            </a:pathLst>
          </a:custGeom>
          <a:blipFill>
            <a:blip r:embed="rId16"/>
            <a:stretch>
              <a:fillRect l="0" t="0" r="0" b="0"/>
            </a:stretch>
          </a:blipFill>
        </p:spPr>
      </p:sp>
      <p:sp>
        <p:nvSpPr>
          <p:cNvPr name="TextBox 23" id="23"/>
          <p:cNvSpPr txBox="true"/>
          <p:nvPr/>
        </p:nvSpPr>
        <p:spPr>
          <a:xfrm rot="0">
            <a:off x="2618796" y="1154534"/>
            <a:ext cx="3058641" cy="466726"/>
          </a:xfrm>
          <a:prstGeom prst="rect">
            <a:avLst/>
          </a:prstGeom>
        </p:spPr>
        <p:txBody>
          <a:bodyPr anchor="t" rtlCol="false" tIns="0" lIns="0" bIns="0" rIns="0">
            <a:spAutoFit/>
          </a:bodyPr>
          <a:lstStyle/>
          <a:p>
            <a:pPr algn="l">
              <a:lnSpc>
                <a:spcPts val="3749"/>
              </a:lnSpc>
            </a:pPr>
            <a:r>
              <a:rPr lang="en-US" sz="2499" b="true">
                <a:solidFill>
                  <a:srgbClr val="2A2A6D"/>
                </a:solidFill>
                <a:latin typeface="Helvetica World Bold"/>
                <a:ea typeface="Helvetica World Bold"/>
                <a:cs typeface="Helvetica World Bold"/>
                <a:sym typeface="Helvetica World Bold"/>
              </a:rPr>
              <a:t>Kecerdasan Buatan</a:t>
            </a:r>
          </a:p>
        </p:txBody>
      </p:sp>
      <p:sp>
        <p:nvSpPr>
          <p:cNvPr name="TextBox 24" id="24"/>
          <p:cNvSpPr txBox="true"/>
          <p:nvPr/>
        </p:nvSpPr>
        <p:spPr>
          <a:xfrm rot="0">
            <a:off x="1501474" y="6241699"/>
            <a:ext cx="3677111" cy="466726"/>
          </a:xfrm>
          <a:prstGeom prst="rect">
            <a:avLst/>
          </a:prstGeom>
        </p:spPr>
        <p:txBody>
          <a:bodyPr anchor="t" rtlCol="false" tIns="0" lIns="0" bIns="0" rIns="0">
            <a:spAutoFit/>
          </a:bodyPr>
          <a:lstStyle/>
          <a:p>
            <a:pPr algn="l">
              <a:lnSpc>
                <a:spcPts val="3749"/>
              </a:lnSpc>
            </a:pPr>
            <a:r>
              <a:rPr lang="en-US" sz="2499" b="true">
                <a:solidFill>
                  <a:srgbClr val="2A2A6D"/>
                </a:solidFill>
                <a:latin typeface="Helvetica World Bold"/>
                <a:ea typeface="Helvetica World Bold"/>
                <a:cs typeface="Helvetica World Bold"/>
                <a:sym typeface="Helvetica World Bold"/>
              </a:rPr>
              <a:t>Anggota Kelompok:</a:t>
            </a:r>
          </a:p>
        </p:txBody>
      </p:sp>
      <p:sp>
        <p:nvSpPr>
          <p:cNvPr name="TextBox 25" id="25"/>
          <p:cNvSpPr txBox="true"/>
          <p:nvPr/>
        </p:nvSpPr>
        <p:spPr>
          <a:xfrm rot="0">
            <a:off x="1501474" y="3790673"/>
            <a:ext cx="7998142" cy="1774751"/>
          </a:xfrm>
          <a:prstGeom prst="rect">
            <a:avLst/>
          </a:prstGeom>
        </p:spPr>
        <p:txBody>
          <a:bodyPr anchor="t" rtlCol="false" tIns="0" lIns="0" bIns="0" rIns="0">
            <a:spAutoFit/>
          </a:bodyPr>
          <a:lstStyle/>
          <a:p>
            <a:pPr algn="l">
              <a:lnSpc>
                <a:spcPts val="4145"/>
              </a:lnSpc>
            </a:pPr>
            <a:r>
              <a:rPr lang="en-US" sz="4145" b="true">
                <a:solidFill>
                  <a:srgbClr val="2A2A6D"/>
                </a:solidFill>
                <a:latin typeface="Helvetica World Bold"/>
                <a:ea typeface="Helvetica World Bold"/>
                <a:cs typeface="Helvetica World Bold"/>
                <a:sym typeface="Helvetica World Bold"/>
              </a:rPr>
              <a:t>IMPLEMENTASI GAN: MENGHASILKAN GAMBAR ANGKA TULISAN TANGAN</a:t>
            </a:r>
          </a:p>
        </p:txBody>
      </p:sp>
      <p:sp>
        <p:nvSpPr>
          <p:cNvPr name="TextBox 26" id="26"/>
          <p:cNvSpPr txBox="true"/>
          <p:nvPr/>
        </p:nvSpPr>
        <p:spPr>
          <a:xfrm rot="0">
            <a:off x="1501474" y="3093442"/>
            <a:ext cx="7098792" cy="530225"/>
          </a:xfrm>
          <a:prstGeom prst="rect">
            <a:avLst/>
          </a:prstGeom>
        </p:spPr>
        <p:txBody>
          <a:bodyPr anchor="t" rtlCol="false" tIns="0" lIns="0" bIns="0" rIns="0">
            <a:spAutoFit/>
          </a:bodyPr>
          <a:lstStyle/>
          <a:p>
            <a:pPr algn="l">
              <a:lnSpc>
                <a:spcPts val="3999"/>
              </a:lnSpc>
            </a:pPr>
            <a:r>
              <a:rPr lang="en-US" sz="3999">
                <a:solidFill>
                  <a:srgbClr val="2A2A6D"/>
                </a:solidFill>
                <a:latin typeface="Helvetica World"/>
                <a:ea typeface="Helvetica World"/>
                <a:cs typeface="Helvetica World"/>
                <a:sym typeface="Helvetica World"/>
              </a:rPr>
              <a:t>KELOMPOK 2</a:t>
            </a:r>
          </a:p>
        </p:txBody>
      </p:sp>
      <p:sp>
        <p:nvSpPr>
          <p:cNvPr name="TextBox 27" id="27"/>
          <p:cNvSpPr txBox="true"/>
          <p:nvPr/>
        </p:nvSpPr>
        <p:spPr>
          <a:xfrm rot="0">
            <a:off x="1316549" y="6813200"/>
            <a:ext cx="9893505" cy="1828800"/>
          </a:xfrm>
          <a:prstGeom prst="rect">
            <a:avLst/>
          </a:prstGeom>
        </p:spPr>
        <p:txBody>
          <a:bodyPr anchor="t" rtlCol="false" tIns="0" lIns="0" bIns="0" rIns="0">
            <a:spAutoFit/>
          </a:bodyPr>
          <a:lstStyle/>
          <a:p>
            <a:pPr algn="l" marL="431799" indent="-215899" lvl="1">
              <a:lnSpc>
                <a:spcPts val="2999"/>
              </a:lnSpc>
              <a:buFont typeface="Arial"/>
              <a:buChar char="•"/>
            </a:pPr>
            <a:r>
              <a:rPr lang="en-US" sz="1999">
                <a:solidFill>
                  <a:srgbClr val="000000"/>
                </a:solidFill>
                <a:latin typeface="Helvetica World"/>
                <a:ea typeface="Helvetica World"/>
                <a:cs typeface="Helvetica World"/>
                <a:sym typeface="Helvetica World"/>
              </a:rPr>
              <a:t>2303010115, Adi Rosyadi, Universitas Perjuangan Tasikmalaya</a:t>
            </a:r>
          </a:p>
          <a:p>
            <a:pPr algn="l" marL="431799" indent="-215899" lvl="1">
              <a:lnSpc>
                <a:spcPts val="2999"/>
              </a:lnSpc>
              <a:buFont typeface="Arial"/>
              <a:buChar char="•"/>
            </a:pPr>
            <a:r>
              <a:rPr lang="en-US" sz="1999">
                <a:solidFill>
                  <a:srgbClr val="000000"/>
                </a:solidFill>
                <a:latin typeface="Helvetica World"/>
                <a:ea typeface="Helvetica World"/>
                <a:cs typeface="Helvetica World"/>
                <a:sym typeface="Helvetica World"/>
              </a:rPr>
              <a:t>2303010126, Juan Pernando A, Universitas Perjuangan Tasikmalaya</a:t>
            </a:r>
          </a:p>
          <a:p>
            <a:pPr algn="l" marL="431799" indent="-215899" lvl="1">
              <a:lnSpc>
                <a:spcPts val="2999"/>
              </a:lnSpc>
              <a:buFont typeface="Arial"/>
              <a:buChar char="•"/>
            </a:pPr>
            <a:r>
              <a:rPr lang="en-US" sz="1999">
                <a:solidFill>
                  <a:srgbClr val="000000"/>
                </a:solidFill>
                <a:latin typeface="Helvetica World"/>
                <a:ea typeface="Helvetica World"/>
                <a:cs typeface="Helvetica World"/>
                <a:sym typeface="Helvetica World"/>
              </a:rPr>
              <a:t>23.11.5668, Raditya M. W. H, Universitas Amikom Yogyakarta</a:t>
            </a:r>
          </a:p>
          <a:p>
            <a:pPr algn="l" marL="431799" indent="-215899" lvl="1">
              <a:lnSpc>
                <a:spcPts val="2999"/>
              </a:lnSpc>
              <a:buFont typeface="Arial"/>
              <a:buChar char="•"/>
            </a:pPr>
            <a:r>
              <a:rPr lang="en-US" sz="1999">
                <a:solidFill>
                  <a:srgbClr val="000000"/>
                </a:solidFill>
                <a:latin typeface="Helvetica World"/>
                <a:ea typeface="Helvetica World"/>
                <a:cs typeface="Helvetica World"/>
                <a:sym typeface="Helvetica World"/>
              </a:rPr>
              <a:t>23.11.5646, Rifqi Aryo Mulyadi, Universitas Amikom Yogyakarta</a:t>
            </a:r>
          </a:p>
          <a:p>
            <a:pPr algn="l">
              <a:lnSpc>
                <a:spcPts val="299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693798" y="5295114"/>
            <a:ext cx="8900404"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0" y="0"/>
            <a:ext cx="18288000" cy="3707520"/>
            <a:chOff x="0" y="0"/>
            <a:chExt cx="4816593" cy="976466"/>
          </a:xfrm>
        </p:grpSpPr>
        <p:sp>
          <p:nvSpPr>
            <p:cNvPr name="Freeform 4" id="4"/>
            <p:cNvSpPr/>
            <p:nvPr/>
          </p:nvSpPr>
          <p:spPr>
            <a:xfrm flipH="false" flipV="false" rot="0">
              <a:off x="0" y="0"/>
              <a:ext cx="4816592" cy="976466"/>
            </a:xfrm>
            <a:custGeom>
              <a:avLst/>
              <a:gdLst/>
              <a:ahLst/>
              <a:cxnLst/>
              <a:rect r="r" b="b" t="t" l="l"/>
              <a:pathLst>
                <a:path h="976466" w="4816592">
                  <a:moveTo>
                    <a:pt x="0" y="0"/>
                  </a:moveTo>
                  <a:lnTo>
                    <a:pt x="4816592" y="0"/>
                  </a:lnTo>
                  <a:lnTo>
                    <a:pt x="4816592" y="976466"/>
                  </a:lnTo>
                  <a:lnTo>
                    <a:pt x="0" y="976466"/>
                  </a:lnTo>
                  <a:close/>
                </a:path>
              </a:pathLst>
            </a:custGeom>
            <a:solidFill>
              <a:srgbClr val="E8E8E8">
                <a:alpha val="49804"/>
              </a:srgbClr>
            </a:solidFill>
          </p:spPr>
        </p:sp>
        <p:sp>
          <p:nvSpPr>
            <p:cNvPr name="TextBox 5" id="5"/>
            <p:cNvSpPr txBox="true"/>
            <p:nvPr/>
          </p:nvSpPr>
          <p:spPr>
            <a:xfrm>
              <a:off x="0" y="-190500"/>
              <a:ext cx="4816593" cy="1166966"/>
            </a:xfrm>
            <a:prstGeom prst="rect">
              <a:avLst/>
            </a:prstGeom>
          </p:spPr>
          <p:txBody>
            <a:bodyPr anchor="ctr" rtlCol="false" tIns="50800" lIns="50800" bIns="50800" rIns="50800"/>
            <a:lstStyle/>
            <a:p>
              <a:pPr algn="ctr">
                <a:lnSpc>
                  <a:spcPts val="4600"/>
                </a:lnSpc>
              </a:pPr>
            </a:p>
          </p:txBody>
        </p:sp>
      </p:grpSp>
      <p:sp>
        <p:nvSpPr>
          <p:cNvPr name="Freeform 6" id="6"/>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405458" y="-228151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693798" y="1512447"/>
            <a:ext cx="8900404" cy="965200"/>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Struktur Pembahasan</a:t>
            </a:r>
          </a:p>
        </p:txBody>
      </p:sp>
      <p:sp>
        <p:nvSpPr>
          <p:cNvPr name="TextBox 9" id="9"/>
          <p:cNvSpPr txBox="true"/>
          <p:nvPr/>
        </p:nvSpPr>
        <p:spPr>
          <a:xfrm rot="0">
            <a:off x="13165516" y="4284904"/>
            <a:ext cx="428686" cy="546735"/>
          </a:xfrm>
          <a:prstGeom prst="rect">
            <a:avLst/>
          </a:prstGeom>
        </p:spPr>
        <p:txBody>
          <a:bodyPr anchor="t" rtlCol="false" tIns="0" lIns="0" bIns="0" rIns="0">
            <a:spAutoFit/>
          </a:bodyPr>
          <a:lstStyle/>
          <a:p>
            <a:pPr algn="ctr">
              <a:lnSpc>
                <a:spcPts val="4800"/>
              </a:lnSpc>
            </a:pPr>
            <a:r>
              <a:rPr lang="en-US" sz="2400">
                <a:solidFill>
                  <a:srgbClr val="000000"/>
                </a:solidFill>
                <a:latin typeface="Helvetica World"/>
                <a:ea typeface="Helvetica World"/>
                <a:cs typeface="Helvetica World"/>
                <a:sym typeface="Helvetica World"/>
              </a:rPr>
              <a:t>01</a:t>
            </a:r>
          </a:p>
        </p:txBody>
      </p:sp>
      <p:sp>
        <p:nvSpPr>
          <p:cNvPr name="TextBox 10" id="10"/>
          <p:cNvSpPr txBox="true"/>
          <p:nvPr/>
        </p:nvSpPr>
        <p:spPr>
          <a:xfrm rot="0">
            <a:off x="4693798" y="4284904"/>
            <a:ext cx="7143568" cy="546735"/>
          </a:xfrm>
          <a:prstGeom prst="rect">
            <a:avLst/>
          </a:prstGeom>
        </p:spPr>
        <p:txBody>
          <a:bodyPr anchor="t" rtlCol="false" tIns="0" lIns="0" bIns="0" rIns="0">
            <a:spAutoFit/>
          </a:bodyPr>
          <a:lstStyle/>
          <a:p>
            <a:pPr algn="l">
              <a:lnSpc>
                <a:spcPts val="4800"/>
              </a:lnSpc>
            </a:pPr>
            <a:r>
              <a:rPr lang="en-US" sz="2400">
                <a:solidFill>
                  <a:srgbClr val="000000"/>
                </a:solidFill>
                <a:latin typeface="Helvetica World"/>
                <a:ea typeface="Helvetica World"/>
                <a:cs typeface="Helvetica World"/>
                <a:sym typeface="Helvetica World"/>
              </a:rPr>
              <a:t>Mengenal mekanisme kerja GAN pada dataset mnist.</a:t>
            </a:r>
          </a:p>
        </p:txBody>
      </p:sp>
      <p:sp>
        <p:nvSpPr>
          <p:cNvPr name="Freeform 11" id="11"/>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12" id="12"/>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AutoShape 13" id="13"/>
          <p:cNvSpPr/>
          <p:nvPr/>
        </p:nvSpPr>
        <p:spPr>
          <a:xfrm>
            <a:off x="4693798" y="6591073"/>
            <a:ext cx="8900404" cy="0"/>
          </a:xfrm>
          <a:prstGeom prst="line">
            <a:avLst/>
          </a:prstGeom>
          <a:ln cap="flat" w="19050">
            <a:solidFill>
              <a:srgbClr val="D9D9D9"/>
            </a:solidFill>
            <a:prstDash val="solid"/>
            <a:headEnd type="none" len="sm" w="sm"/>
            <a:tailEnd type="none" len="sm" w="sm"/>
          </a:ln>
        </p:spPr>
      </p:sp>
      <p:sp>
        <p:nvSpPr>
          <p:cNvPr name="TextBox 14" id="14"/>
          <p:cNvSpPr txBox="true"/>
          <p:nvPr/>
        </p:nvSpPr>
        <p:spPr>
          <a:xfrm rot="0">
            <a:off x="13165516" y="5580864"/>
            <a:ext cx="428686" cy="546735"/>
          </a:xfrm>
          <a:prstGeom prst="rect">
            <a:avLst/>
          </a:prstGeom>
        </p:spPr>
        <p:txBody>
          <a:bodyPr anchor="t" rtlCol="false" tIns="0" lIns="0" bIns="0" rIns="0">
            <a:spAutoFit/>
          </a:bodyPr>
          <a:lstStyle/>
          <a:p>
            <a:pPr algn="ctr">
              <a:lnSpc>
                <a:spcPts val="4800"/>
              </a:lnSpc>
            </a:pPr>
            <a:r>
              <a:rPr lang="en-US" sz="2400">
                <a:solidFill>
                  <a:srgbClr val="000000"/>
                </a:solidFill>
                <a:latin typeface="Helvetica World"/>
                <a:ea typeface="Helvetica World"/>
                <a:cs typeface="Helvetica World"/>
                <a:sym typeface="Helvetica World"/>
              </a:rPr>
              <a:t>02</a:t>
            </a:r>
          </a:p>
        </p:txBody>
      </p:sp>
      <p:sp>
        <p:nvSpPr>
          <p:cNvPr name="TextBox 15" id="15"/>
          <p:cNvSpPr txBox="true"/>
          <p:nvPr/>
        </p:nvSpPr>
        <p:spPr>
          <a:xfrm rot="0">
            <a:off x="4693798" y="5580864"/>
            <a:ext cx="8220453" cy="1765935"/>
          </a:xfrm>
          <a:prstGeom prst="rect">
            <a:avLst/>
          </a:prstGeom>
        </p:spPr>
        <p:txBody>
          <a:bodyPr anchor="t" rtlCol="false" tIns="0" lIns="0" bIns="0" rIns="0">
            <a:spAutoFit/>
          </a:bodyPr>
          <a:lstStyle/>
          <a:p>
            <a:pPr algn="l">
              <a:lnSpc>
                <a:spcPts val="4800"/>
              </a:lnSpc>
            </a:pPr>
            <a:r>
              <a:rPr lang="en-US" sz="2400">
                <a:solidFill>
                  <a:srgbClr val="000000"/>
                </a:solidFill>
                <a:latin typeface="Helvetica World"/>
                <a:ea typeface="Helvetica World"/>
                <a:cs typeface="Helvetica World"/>
                <a:sym typeface="Helvetica World"/>
              </a:rPr>
              <a:t>Penjelasan kode program dan konfigurasi parameter model.</a:t>
            </a:r>
          </a:p>
          <a:p>
            <a:pPr algn="l">
              <a:lnSpc>
                <a:spcPts val="4800"/>
              </a:lnSpc>
            </a:pPr>
          </a:p>
          <a:p>
            <a:pPr algn="l">
              <a:lnSpc>
                <a:spcPts val="4800"/>
              </a:lnSpc>
            </a:pPr>
          </a:p>
        </p:txBody>
      </p:sp>
      <p:sp>
        <p:nvSpPr>
          <p:cNvPr name="AutoShape 16" id="16"/>
          <p:cNvSpPr/>
          <p:nvPr/>
        </p:nvSpPr>
        <p:spPr>
          <a:xfrm>
            <a:off x="4693798" y="8301009"/>
            <a:ext cx="8900404" cy="0"/>
          </a:xfrm>
          <a:prstGeom prst="line">
            <a:avLst/>
          </a:prstGeom>
          <a:ln cap="flat" w="19050">
            <a:solidFill>
              <a:srgbClr val="D9D9D9"/>
            </a:solidFill>
            <a:prstDash val="solid"/>
            <a:headEnd type="none" len="sm" w="sm"/>
            <a:tailEnd type="none" len="sm" w="sm"/>
          </a:ln>
        </p:spPr>
      </p:sp>
      <p:sp>
        <p:nvSpPr>
          <p:cNvPr name="TextBox 17" id="17"/>
          <p:cNvSpPr txBox="true"/>
          <p:nvPr/>
        </p:nvSpPr>
        <p:spPr>
          <a:xfrm rot="0">
            <a:off x="13165516" y="6935124"/>
            <a:ext cx="428686" cy="546735"/>
          </a:xfrm>
          <a:prstGeom prst="rect">
            <a:avLst/>
          </a:prstGeom>
        </p:spPr>
        <p:txBody>
          <a:bodyPr anchor="t" rtlCol="false" tIns="0" lIns="0" bIns="0" rIns="0">
            <a:spAutoFit/>
          </a:bodyPr>
          <a:lstStyle/>
          <a:p>
            <a:pPr algn="ctr">
              <a:lnSpc>
                <a:spcPts val="4800"/>
              </a:lnSpc>
            </a:pPr>
            <a:r>
              <a:rPr lang="en-US" sz="2400">
                <a:solidFill>
                  <a:srgbClr val="000000"/>
                </a:solidFill>
                <a:latin typeface="Helvetica World"/>
                <a:ea typeface="Helvetica World"/>
                <a:cs typeface="Helvetica World"/>
                <a:sym typeface="Helvetica World"/>
              </a:rPr>
              <a:t>03</a:t>
            </a:r>
          </a:p>
        </p:txBody>
      </p:sp>
      <p:sp>
        <p:nvSpPr>
          <p:cNvPr name="TextBox 18" id="18"/>
          <p:cNvSpPr txBox="true"/>
          <p:nvPr/>
        </p:nvSpPr>
        <p:spPr>
          <a:xfrm rot="0">
            <a:off x="4693798" y="6935124"/>
            <a:ext cx="8220453" cy="2375535"/>
          </a:xfrm>
          <a:prstGeom prst="rect">
            <a:avLst/>
          </a:prstGeom>
        </p:spPr>
        <p:txBody>
          <a:bodyPr anchor="t" rtlCol="false" tIns="0" lIns="0" bIns="0" rIns="0">
            <a:spAutoFit/>
          </a:bodyPr>
          <a:lstStyle/>
          <a:p>
            <a:pPr algn="l">
              <a:lnSpc>
                <a:spcPts val="4800"/>
              </a:lnSpc>
            </a:pPr>
            <a:r>
              <a:rPr lang="en-US" sz="2400">
                <a:solidFill>
                  <a:srgbClr val="000000"/>
                </a:solidFill>
                <a:latin typeface="Helvetica World"/>
                <a:ea typeface="Helvetica World"/>
                <a:cs typeface="Helvetica World"/>
                <a:sym typeface="Helvetica World"/>
              </a:rPr>
              <a:t>Mengamati perkembangan model dari noise hingga membentuk angka.</a:t>
            </a:r>
          </a:p>
          <a:p>
            <a:pPr algn="l">
              <a:lnSpc>
                <a:spcPts val="4800"/>
              </a:lnSpc>
            </a:pPr>
          </a:p>
          <a:p>
            <a:pPr algn="l">
              <a:lnSpc>
                <a:spcPts val="4800"/>
              </a:lnSpc>
            </a:pPr>
          </a:p>
        </p:txBody>
      </p:sp>
      <p:sp>
        <p:nvSpPr>
          <p:cNvPr name="AutoShape 19" id="19"/>
          <p:cNvSpPr/>
          <p:nvPr/>
        </p:nvSpPr>
        <p:spPr>
          <a:xfrm>
            <a:off x="4693798" y="9624984"/>
            <a:ext cx="8900404" cy="0"/>
          </a:xfrm>
          <a:prstGeom prst="line">
            <a:avLst/>
          </a:prstGeom>
          <a:ln cap="flat" w="19050">
            <a:solidFill>
              <a:srgbClr val="D9D9D9"/>
            </a:solidFill>
            <a:prstDash val="solid"/>
            <a:headEnd type="none" len="sm" w="sm"/>
            <a:tailEnd type="none" len="sm" w="sm"/>
          </a:ln>
        </p:spPr>
      </p:sp>
      <p:sp>
        <p:nvSpPr>
          <p:cNvPr name="TextBox 20" id="20"/>
          <p:cNvSpPr txBox="true"/>
          <p:nvPr/>
        </p:nvSpPr>
        <p:spPr>
          <a:xfrm rot="0">
            <a:off x="13165516" y="8586759"/>
            <a:ext cx="428686" cy="546735"/>
          </a:xfrm>
          <a:prstGeom prst="rect">
            <a:avLst/>
          </a:prstGeom>
        </p:spPr>
        <p:txBody>
          <a:bodyPr anchor="t" rtlCol="false" tIns="0" lIns="0" bIns="0" rIns="0">
            <a:spAutoFit/>
          </a:bodyPr>
          <a:lstStyle/>
          <a:p>
            <a:pPr algn="ctr">
              <a:lnSpc>
                <a:spcPts val="4800"/>
              </a:lnSpc>
            </a:pPr>
            <a:r>
              <a:rPr lang="en-US" sz="2400">
                <a:solidFill>
                  <a:srgbClr val="000000"/>
                </a:solidFill>
                <a:latin typeface="Helvetica World"/>
                <a:ea typeface="Helvetica World"/>
                <a:cs typeface="Helvetica World"/>
                <a:sym typeface="Helvetica World"/>
              </a:rPr>
              <a:t>04</a:t>
            </a:r>
          </a:p>
        </p:txBody>
      </p:sp>
      <p:sp>
        <p:nvSpPr>
          <p:cNvPr name="TextBox 21" id="21"/>
          <p:cNvSpPr txBox="true"/>
          <p:nvPr/>
        </p:nvSpPr>
        <p:spPr>
          <a:xfrm rot="0">
            <a:off x="4693798" y="8599141"/>
            <a:ext cx="7143568" cy="546735"/>
          </a:xfrm>
          <a:prstGeom prst="rect">
            <a:avLst/>
          </a:prstGeom>
        </p:spPr>
        <p:txBody>
          <a:bodyPr anchor="t" rtlCol="false" tIns="0" lIns="0" bIns="0" rIns="0">
            <a:spAutoFit/>
          </a:bodyPr>
          <a:lstStyle/>
          <a:p>
            <a:pPr algn="l">
              <a:lnSpc>
                <a:spcPts val="4800"/>
              </a:lnSpc>
            </a:pPr>
            <a:r>
              <a:rPr lang="en-US" sz="2400">
                <a:solidFill>
                  <a:srgbClr val="000000"/>
                </a:solidFill>
                <a:latin typeface="Helvetica World"/>
                <a:ea typeface="Helvetica World"/>
                <a:cs typeface="Helvetica World"/>
                <a:sym typeface="Helvetica World"/>
              </a:rPr>
              <a:t>Penilaian keberhasilan model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48720" y="3563178"/>
            <a:ext cx="15071166" cy="6989994"/>
          </a:xfrm>
          <a:prstGeom prst="rect">
            <a:avLst/>
          </a:prstGeom>
        </p:spPr>
        <p:txBody>
          <a:bodyPr anchor="t" rtlCol="false" tIns="0" lIns="0" bIns="0" rIns="0">
            <a:spAutoFit/>
          </a:bodyPr>
          <a:lstStyle/>
          <a:p>
            <a:pPr algn="just" marL="0" indent="0" lvl="0">
              <a:lnSpc>
                <a:spcPts val="3749"/>
              </a:lnSpc>
            </a:pPr>
            <a:r>
              <a:rPr lang="en-US" sz="2678">
                <a:solidFill>
                  <a:srgbClr val="000000"/>
                </a:solidFill>
                <a:latin typeface="Helvetica World"/>
                <a:ea typeface="Helvetica World"/>
                <a:cs typeface="Helvetica World"/>
                <a:sym typeface="Helvetica World"/>
              </a:rPr>
              <a:t>GAN</a:t>
            </a:r>
            <a:r>
              <a:rPr lang="en-US" sz="2678">
                <a:solidFill>
                  <a:srgbClr val="000000"/>
                </a:solidFill>
                <a:latin typeface="Helvetica World"/>
                <a:ea typeface="Helvetica World"/>
                <a:cs typeface="Helvetica World"/>
                <a:sym typeface="Helvetica World"/>
              </a:rPr>
              <a:t> bekerja melalui interaksi dua aktor utama yang memiliki tujuan berlawanan:</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Generator: Bertugas mengubah random noise menjadi gambar angka yang meyakinkan (seperti pemalsu lukisan).</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Discriminator: Bertugas membedakan antara data asli dan data buatan Generator (seperti detektif seni).</a:t>
            </a:r>
          </a:p>
          <a:p>
            <a:pPr algn="just">
              <a:lnSpc>
                <a:spcPts val="3749"/>
              </a:lnSpc>
            </a:pPr>
            <a:r>
              <a:rPr lang="en-US" sz="2678">
                <a:solidFill>
                  <a:srgbClr val="000000"/>
                </a:solidFill>
                <a:latin typeface="Helvetica World"/>
                <a:ea typeface="Helvetica World"/>
                <a:cs typeface="Helvetica World"/>
                <a:sym typeface="Helvetica World"/>
              </a:rPr>
              <a:t>Dataset MNIST digunakan untuk melatih (Discriminator) agar tahu seperti apa angka yang asli.</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Cara Memuat Data: Di dalam kode, kita menggunakan fungsi: </a:t>
            </a:r>
          </a:p>
          <a:p>
            <a:pPr algn="just">
              <a:lnSpc>
                <a:spcPts val="3749"/>
              </a:lnSpc>
            </a:pPr>
            <a:r>
              <a:rPr lang="en-US" sz="2678">
                <a:solidFill>
                  <a:srgbClr val="000000"/>
                </a:solidFill>
                <a:latin typeface="Helvetica World"/>
                <a:ea typeface="Helvetica World"/>
                <a:cs typeface="Helvetica World"/>
                <a:sym typeface="Helvetica World"/>
              </a:rPr>
              <a:t>       (train_images, _), (_, _) = tf.keras.datasets.mnist.load_data()</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Sebelum masuk ke jaringan saraf, data asli harus "diselaraskan" dengan cara:</a:t>
            </a:r>
          </a:p>
          <a:p>
            <a:pPr algn="just">
              <a:lnSpc>
                <a:spcPts val="3749"/>
              </a:lnSpc>
            </a:pPr>
            <a:r>
              <a:rPr lang="en-US" sz="2678">
                <a:solidFill>
                  <a:srgbClr val="000000"/>
                </a:solidFill>
                <a:latin typeface="Helvetica World"/>
                <a:ea typeface="Helvetica World"/>
                <a:cs typeface="Helvetica World"/>
                <a:sym typeface="Helvetica World"/>
              </a:rPr>
              <a:t>       </a:t>
            </a:r>
            <a:r>
              <a:rPr lang="en-US" sz="2678">
                <a:solidFill>
                  <a:srgbClr val="000000"/>
                </a:solidFill>
                <a:latin typeface="Helvetica World"/>
                <a:ea typeface="Helvetica World"/>
                <a:cs typeface="Helvetica World"/>
                <a:sym typeface="Helvetica World"/>
              </a:rPr>
              <a:t>Normalisasi, mengubah nilai piksel (0-255) menjadi rentang -1 hingga 1.</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Tujuannya: Agar seimbang dengan output dari Generator yang menggunakan fungsi aktivasi tanh. Jika rentang datanya berbeda, Discriminator akan terlalu mudah menebak mana yang palsu, dan proses belajar akan gagal.</a:t>
            </a:r>
          </a:p>
          <a:p>
            <a:pPr algn="just">
              <a:lnSpc>
                <a:spcPts val="3749"/>
              </a:lnSpc>
            </a:pPr>
          </a:p>
          <a:p>
            <a:pPr algn="just" marL="0" indent="0" lvl="0">
              <a:lnSpc>
                <a:spcPts val="3749"/>
              </a:lnSpc>
            </a:pPr>
          </a:p>
        </p:txBody>
      </p:sp>
      <p:sp>
        <p:nvSpPr>
          <p:cNvPr name="Freeform 5" id="5"/>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TextBox 7" id="7"/>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Konsep Dasar: Mekanisme Kerja Generative Adversarial Network (GAN)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48720" y="6818877"/>
            <a:ext cx="15071166" cy="3256194"/>
          </a:xfrm>
          <a:prstGeom prst="rect">
            <a:avLst/>
          </a:prstGeom>
        </p:spPr>
        <p:txBody>
          <a:bodyPr anchor="t" rtlCol="false" tIns="0" lIns="0" bIns="0" rIns="0">
            <a:spAutoFit/>
          </a:bodyPr>
          <a:lstStyle/>
          <a:p>
            <a:pPr algn="just" marL="0" indent="0" lvl="0">
              <a:lnSpc>
                <a:spcPts val="3749"/>
              </a:lnSpc>
            </a:pPr>
            <a:r>
              <a:rPr lang="en-US" sz="2678">
                <a:solidFill>
                  <a:srgbClr val="000000"/>
                </a:solidFill>
                <a:latin typeface="Helvetica World"/>
                <a:ea typeface="Helvetica World"/>
                <a:cs typeface="Helvetica World"/>
                <a:sym typeface="Helvetica World"/>
              </a:rPr>
              <a:t>Visu</a:t>
            </a:r>
            <a:r>
              <a:rPr lang="en-US" sz="2678">
                <a:solidFill>
                  <a:srgbClr val="000000"/>
                </a:solidFill>
                <a:latin typeface="Helvetica World"/>
                <a:ea typeface="Helvetica World"/>
                <a:cs typeface="Helvetica World"/>
                <a:sym typeface="Helvetica World"/>
              </a:rPr>
              <a:t>alisasi Dataset MNIST</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Karakteristik Data: Terdiri dari 60.000 data latih berupa citra angka tulis tangan digi</a:t>
            </a:r>
            <a:r>
              <a:rPr lang="en-US" sz="2678">
                <a:solidFill>
                  <a:srgbClr val="000000"/>
                </a:solidFill>
                <a:latin typeface="Helvetica World"/>
                <a:ea typeface="Helvetica World"/>
                <a:cs typeface="Helvetica World"/>
                <a:sym typeface="Helvetica World"/>
              </a:rPr>
              <a:t>t 0 sampai 9.</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Dimensi Citra: Setiap gambar memiliki ukuran 28 x 28 piksel</a:t>
            </a:r>
            <a:r>
              <a:rPr lang="en-US" sz="2678">
                <a:solidFill>
                  <a:srgbClr val="000000"/>
                </a:solidFill>
                <a:latin typeface="Helvetica World"/>
                <a:ea typeface="Helvetica World"/>
                <a:cs typeface="Helvetica World"/>
                <a:sym typeface="Helvetica World"/>
              </a:rPr>
              <a:t> dengan format grayscale (hitam putih).</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Tantangan Model: Keberagaman gaya penulisan tangan dari berbagai orang menjadi tantangan utama bagi model untuk mempelajari pola visual yang akurat.</a:t>
            </a:r>
          </a:p>
          <a:p>
            <a:pPr algn="just" marL="0" indent="0" lvl="0">
              <a:lnSpc>
                <a:spcPts val="3749"/>
              </a:lnSpc>
            </a:pPr>
          </a:p>
        </p:txBody>
      </p:sp>
      <p:sp>
        <p:nvSpPr>
          <p:cNvPr name="Freeform 5" id="5"/>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7" id="7"/>
          <p:cNvSpPr/>
          <p:nvPr/>
        </p:nvSpPr>
        <p:spPr>
          <a:xfrm flipH="false" flipV="false" rot="0">
            <a:off x="5179450" y="3269927"/>
            <a:ext cx="8429580" cy="3287978"/>
          </a:xfrm>
          <a:custGeom>
            <a:avLst/>
            <a:gdLst/>
            <a:ahLst/>
            <a:cxnLst/>
            <a:rect r="r" b="b" t="t" l="l"/>
            <a:pathLst>
              <a:path h="3287978" w="8429580">
                <a:moveTo>
                  <a:pt x="0" y="0"/>
                </a:moveTo>
                <a:lnTo>
                  <a:pt x="8429580" y="0"/>
                </a:lnTo>
                <a:lnTo>
                  <a:pt x="8429580" y="3287977"/>
                </a:lnTo>
                <a:lnTo>
                  <a:pt x="0" y="3287977"/>
                </a:lnTo>
                <a:lnTo>
                  <a:pt x="0" y="0"/>
                </a:lnTo>
                <a:close/>
              </a:path>
            </a:pathLst>
          </a:custGeom>
          <a:blipFill>
            <a:blip r:embed="rId8"/>
            <a:stretch>
              <a:fillRect l="0" t="0" r="0" b="0"/>
            </a:stretch>
          </a:blipFill>
        </p:spPr>
      </p:sp>
      <p:sp>
        <p:nvSpPr>
          <p:cNvPr name="TextBox 8" id="8"/>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Konsep Dasar: Mekanisme Kerja Generative Adversarial Network (GAN)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5" id="5"/>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4359958" y="4086051"/>
            <a:ext cx="10068563" cy="5651693"/>
          </a:xfrm>
          <a:custGeom>
            <a:avLst/>
            <a:gdLst/>
            <a:ahLst/>
            <a:cxnLst/>
            <a:rect r="r" b="b" t="t" l="l"/>
            <a:pathLst>
              <a:path h="5651693" w="10068563">
                <a:moveTo>
                  <a:pt x="0" y="0"/>
                </a:moveTo>
                <a:lnTo>
                  <a:pt x="10068563" y="0"/>
                </a:lnTo>
                <a:lnTo>
                  <a:pt x="10068563" y="5651693"/>
                </a:lnTo>
                <a:lnTo>
                  <a:pt x="0" y="5651693"/>
                </a:lnTo>
                <a:lnTo>
                  <a:pt x="0" y="0"/>
                </a:lnTo>
                <a:close/>
              </a:path>
            </a:pathLst>
          </a:custGeom>
          <a:blipFill>
            <a:blip r:embed="rId8"/>
            <a:stretch>
              <a:fillRect l="0" t="0" r="0" b="0"/>
            </a:stretch>
          </a:blipFill>
        </p:spPr>
      </p:sp>
      <p:sp>
        <p:nvSpPr>
          <p:cNvPr name="TextBox 7" id="7"/>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Arsitektur Model: Jaringan dan Konfigurasi Pelatihan</a:t>
            </a:r>
          </a:p>
        </p:txBody>
      </p:sp>
      <p:sp>
        <p:nvSpPr>
          <p:cNvPr name="TextBox 8" id="8"/>
          <p:cNvSpPr txBox="true"/>
          <p:nvPr/>
        </p:nvSpPr>
        <p:spPr>
          <a:xfrm rot="0">
            <a:off x="3254856" y="3304609"/>
            <a:ext cx="4863554" cy="546735"/>
          </a:xfrm>
          <a:prstGeom prst="rect">
            <a:avLst/>
          </a:prstGeom>
        </p:spPr>
        <p:txBody>
          <a:bodyPr anchor="t" rtlCol="false" tIns="0" lIns="0" bIns="0" rIns="0">
            <a:spAutoFit/>
          </a:bodyPr>
          <a:lstStyle/>
          <a:p>
            <a:pPr algn="ctr">
              <a:lnSpc>
                <a:spcPts val="4800"/>
              </a:lnSpc>
              <a:spcBef>
                <a:spcPct val="0"/>
              </a:spcBef>
            </a:pPr>
            <a:r>
              <a:rPr lang="en-US" sz="2400">
                <a:solidFill>
                  <a:srgbClr val="FFFFFF"/>
                </a:solidFill>
                <a:latin typeface="Helvetica World"/>
                <a:ea typeface="Helvetica World"/>
                <a:cs typeface="Helvetica World"/>
                <a:sym typeface="Helvetica World"/>
              </a:rPr>
              <a:t>Sisi Generator (Arsitektur Ekspansif)</a:t>
            </a:r>
          </a:p>
        </p:txBody>
      </p:sp>
      <p:sp>
        <p:nvSpPr>
          <p:cNvPr name="TextBox 9" id="9"/>
          <p:cNvSpPr txBox="true"/>
          <p:nvPr/>
        </p:nvSpPr>
        <p:spPr>
          <a:xfrm rot="0">
            <a:off x="1848720" y="3563178"/>
            <a:ext cx="15071166" cy="455844"/>
          </a:xfrm>
          <a:prstGeom prst="rect">
            <a:avLst/>
          </a:prstGeom>
        </p:spPr>
        <p:txBody>
          <a:bodyPr anchor="t" rtlCol="false" tIns="0" lIns="0" bIns="0" rIns="0">
            <a:spAutoFit/>
          </a:bodyPr>
          <a:lstStyle/>
          <a:p>
            <a:pPr algn="just" marL="578267" indent="-289133" lvl="1">
              <a:lnSpc>
                <a:spcPts val="3749"/>
              </a:lnSpc>
              <a:buAutoNum type="arabicPeriod" startAt="1"/>
            </a:pPr>
            <a:r>
              <a:rPr lang="en-US" sz="2678">
                <a:solidFill>
                  <a:srgbClr val="000000"/>
                </a:solidFill>
                <a:latin typeface="Helvetica World"/>
                <a:ea typeface="Helvetica World"/>
                <a:cs typeface="Helvetica World"/>
                <a:sym typeface="Helvetica World"/>
              </a:rPr>
              <a:t>Sisi Generator: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48720" y="3563178"/>
            <a:ext cx="15071166" cy="4656369"/>
          </a:xfrm>
          <a:prstGeom prst="rect">
            <a:avLst/>
          </a:prstGeom>
        </p:spPr>
        <p:txBody>
          <a:bodyPr anchor="t" rtlCol="false" tIns="0" lIns="0" bIns="0" rIns="0">
            <a:spAutoFit/>
          </a:bodyPr>
          <a:lstStyle/>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G</a:t>
            </a:r>
            <a:r>
              <a:rPr lang="en-US" sz="2678">
                <a:solidFill>
                  <a:srgbClr val="000000"/>
                </a:solidFill>
                <a:latin typeface="Helvetica World"/>
                <a:ea typeface="Helvetica World"/>
                <a:cs typeface="Helvetica World"/>
                <a:sym typeface="Helvetica World"/>
              </a:rPr>
              <a:t>enerator bekerja seperti "Lensa Pembesar". Ia menerima input berupa vektor angka acak (100 dimensi)</a:t>
            </a:r>
            <a:r>
              <a:rPr lang="en-US" sz="2678">
                <a:solidFill>
                  <a:srgbClr val="000000"/>
                </a:solidFill>
                <a:latin typeface="Helvetica World"/>
                <a:ea typeface="Helvetica World"/>
                <a:cs typeface="Helvetica World"/>
                <a:sym typeface="Helvetica World"/>
              </a:rPr>
              <a:t> yang tidak bermakna, lalu memperluasnya secara bertahap.</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Proses Layer:</a:t>
            </a:r>
          </a:p>
          <a:p>
            <a:pPr algn="just" marL="1156533" indent="-385511" lvl="2">
              <a:lnSpc>
                <a:spcPts val="3749"/>
              </a:lnSpc>
              <a:buFont typeface="Arial"/>
              <a:buChar char="⚬"/>
            </a:pPr>
            <a:r>
              <a:rPr lang="en-US" sz="2678">
                <a:solidFill>
                  <a:srgbClr val="000000"/>
                </a:solidFill>
                <a:latin typeface="Helvetica World"/>
                <a:ea typeface="Helvetica World"/>
                <a:cs typeface="Helvetica World"/>
                <a:sym typeface="Helvetica World"/>
              </a:rPr>
              <a:t>Menerima 100 titik data.</a:t>
            </a:r>
          </a:p>
          <a:p>
            <a:pPr algn="just" marL="1156533" indent="-385511" lvl="2">
              <a:lnSpc>
                <a:spcPts val="3749"/>
              </a:lnSpc>
              <a:buFont typeface="Arial"/>
              <a:buChar char="⚬"/>
            </a:pPr>
            <a:r>
              <a:rPr lang="en-US" sz="2678">
                <a:solidFill>
                  <a:srgbClr val="000000"/>
                </a:solidFill>
                <a:latin typeface="Helvetica World"/>
                <a:ea typeface="Helvetica World"/>
                <a:cs typeface="Helvetica World"/>
                <a:sym typeface="Helvetica World"/>
              </a:rPr>
              <a:t>Diproses mela</a:t>
            </a:r>
            <a:r>
              <a:rPr lang="en-US" sz="2678">
                <a:solidFill>
                  <a:srgbClr val="000000"/>
                </a:solidFill>
                <a:latin typeface="Helvetica World"/>
                <a:ea typeface="Helvetica World"/>
                <a:cs typeface="Helvetica World"/>
                <a:sym typeface="Helvetica World"/>
              </a:rPr>
              <a:t>lui lapisan saraf (Dense layers) untuk mengekstraksi</a:t>
            </a:r>
            <a:r>
              <a:rPr lang="en-US" sz="2678">
                <a:solidFill>
                  <a:srgbClr val="000000"/>
                </a:solidFill>
                <a:latin typeface="Helvetica World"/>
                <a:ea typeface="Helvetica World"/>
                <a:cs typeface="Helvetica World"/>
                <a:sym typeface="Helvetica World"/>
              </a:rPr>
              <a:t> p</a:t>
            </a:r>
            <a:r>
              <a:rPr lang="en-US" sz="2678">
                <a:solidFill>
                  <a:srgbClr val="000000"/>
                </a:solidFill>
                <a:latin typeface="Helvetica World"/>
                <a:ea typeface="Helvetica World"/>
                <a:cs typeface="Helvetica World"/>
                <a:sym typeface="Helvetica World"/>
              </a:rPr>
              <a:t>ola awal.</a:t>
            </a:r>
          </a:p>
          <a:p>
            <a:pPr algn="just" marL="1156533" indent="-385511" lvl="2">
              <a:lnSpc>
                <a:spcPts val="3749"/>
              </a:lnSpc>
              <a:buFont typeface="Arial"/>
              <a:buChar char="⚬"/>
            </a:pPr>
            <a:r>
              <a:rPr lang="en-US" sz="2678">
                <a:solidFill>
                  <a:srgbClr val="000000"/>
                </a:solidFill>
                <a:latin typeface="Helvetica World"/>
                <a:ea typeface="Helvetica World"/>
                <a:cs typeface="Helvetica World"/>
                <a:sym typeface="Helvetica World"/>
              </a:rPr>
              <a:t>Diubah bentuknya (Reshape) menjadi struktur 2D.</a:t>
            </a:r>
          </a:p>
          <a:p>
            <a:pPr algn="just" marL="1156533" indent="-385511" lvl="2">
              <a:lnSpc>
                <a:spcPts val="3749"/>
              </a:lnSpc>
              <a:buFont typeface="Arial"/>
              <a:buChar char="⚬"/>
            </a:pPr>
            <a:r>
              <a:rPr lang="en-US" sz="2678">
                <a:solidFill>
                  <a:srgbClr val="000000"/>
                </a:solidFill>
                <a:latin typeface="Helvetica World"/>
                <a:ea typeface="Helvetica World"/>
                <a:cs typeface="Helvetica World"/>
                <a:sym typeface="Helvetica World"/>
              </a:rPr>
              <a:t>Output Akhir: Sebuah matriks 28 x28 piksel yang menyerupai angka.</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Fungsi Aktivasi Tanh: Digunakan di akhir untuk memastikan warna piksel berada di rentang yang stabil (hitam ke putih).</a:t>
            </a:r>
          </a:p>
          <a:p>
            <a:pPr algn="just" marL="0" indent="0" lvl="0">
              <a:lnSpc>
                <a:spcPts val="3749"/>
              </a:lnSpc>
            </a:pPr>
          </a:p>
        </p:txBody>
      </p:sp>
      <p:sp>
        <p:nvSpPr>
          <p:cNvPr name="Freeform 5" id="5"/>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TextBox 7" id="7"/>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Arsitektur Model: Jaringan dan Konfigurasi Pelatihan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5" id="5"/>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4359958" y="4086051"/>
            <a:ext cx="10068563" cy="5651693"/>
          </a:xfrm>
          <a:custGeom>
            <a:avLst/>
            <a:gdLst/>
            <a:ahLst/>
            <a:cxnLst/>
            <a:rect r="r" b="b" t="t" l="l"/>
            <a:pathLst>
              <a:path h="5651693" w="10068563">
                <a:moveTo>
                  <a:pt x="0" y="0"/>
                </a:moveTo>
                <a:lnTo>
                  <a:pt x="10068563" y="0"/>
                </a:lnTo>
                <a:lnTo>
                  <a:pt x="10068563" y="5651693"/>
                </a:lnTo>
                <a:lnTo>
                  <a:pt x="0" y="5651693"/>
                </a:lnTo>
                <a:lnTo>
                  <a:pt x="0" y="0"/>
                </a:lnTo>
                <a:close/>
              </a:path>
            </a:pathLst>
          </a:custGeom>
          <a:blipFill>
            <a:blip r:embed="rId8"/>
            <a:stretch>
              <a:fillRect l="0" t="0" r="0" b="0"/>
            </a:stretch>
          </a:blipFill>
        </p:spPr>
      </p:sp>
      <p:sp>
        <p:nvSpPr>
          <p:cNvPr name="Freeform 7" id="7"/>
          <p:cNvSpPr/>
          <p:nvPr/>
        </p:nvSpPr>
        <p:spPr>
          <a:xfrm flipH="false" flipV="false" rot="0">
            <a:off x="4359958" y="4086051"/>
            <a:ext cx="10068563" cy="5581681"/>
          </a:xfrm>
          <a:custGeom>
            <a:avLst/>
            <a:gdLst/>
            <a:ahLst/>
            <a:cxnLst/>
            <a:rect r="r" b="b" t="t" l="l"/>
            <a:pathLst>
              <a:path h="5581681" w="10068563">
                <a:moveTo>
                  <a:pt x="0" y="0"/>
                </a:moveTo>
                <a:lnTo>
                  <a:pt x="10068563" y="0"/>
                </a:lnTo>
                <a:lnTo>
                  <a:pt x="10068563" y="5581681"/>
                </a:lnTo>
                <a:lnTo>
                  <a:pt x="0" y="5581681"/>
                </a:lnTo>
                <a:lnTo>
                  <a:pt x="0" y="0"/>
                </a:lnTo>
                <a:close/>
              </a:path>
            </a:pathLst>
          </a:custGeom>
          <a:blipFill>
            <a:blip r:embed="rId9"/>
            <a:stretch>
              <a:fillRect l="0" t="0" r="0" b="0"/>
            </a:stretch>
          </a:blipFill>
        </p:spPr>
      </p:sp>
      <p:sp>
        <p:nvSpPr>
          <p:cNvPr name="TextBox 8" id="8"/>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Arsitektur Model: Jaringan dan Konfigurasi Pelatihan</a:t>
            </a:r>
          </a:p>
        </p:txBody>
      </p:sp>
      <p:sp>
        <p:nvSpPr>
          <p:cNvPr name="TextBox 9" id="9"/>
          <p:cNvSpPr txBox="true"/>
          <p:nvPr/>
        </p:nvSpPr>
        <p:spPr>
          <a:xfrm rot="0">
            <a:off x="3254856" y="3304609"/>
            <a:ext cx="4863554" cy="546735"/>
          </a:xfrm>
          <a:prstGeom prst="rect">
            <a:avLst/>
          </a:prstGeom>
        </p:spPr>
        <p:txBody>
          <a:bodyPr anchor="t" rtlCol="false" tIns="0" lIns="0" bIns="0" rIns="0">
            <a:spAutoFit/>
          </a:bodyPr>
          <a:lstStyle/>
          <a:p>
            <a:pPr algn="ctr">
              <a:lnSpc>
                <a:spcPts val="4800"/>
              </a:lnSpc>
              <a:spcBef>
                <a:spcPct val="0"/>
              </a:spcBef>
            </a:pPr>
            <a:r>
              <a:rPr lang="en-US" sz="2400">
                <a:solidFill>
                  <a:srgbClr val="FFFFFF"/>
                </a:solidFill>
                <a:latin typeface="Helvetica World"/>
                <a:ea typeface="Helvetica World"/>
                <a:cs typeface="Helvetica World"/>
                <a:sym typeface="Helvetica World"/>
              </a:rPr>
              <a:t>Sisi Generator (Arsitektur Ekspansif)</a:t>
            </a:r>
          </a:p>
        </p:txBody>
      </p:sp>
      <p:sp>
        <p:nvSpPr>
          <p:cNvPr name="TextBox 10" id="10"/>
          <p:cNvSpPr txBox="true"/>
          <p:nvPr/>
        </p:nvSpPr>
        <p:spPr>
          <a:xfrm rot="0">
            <a:off x="1848720" y="3563178"/>
            <a:ext cx="15071166" cy="455844"/>
          </a:xfrm>
          <a:prstGeom prst="rect">
            <a:avLst/>
          </a:prstGeom>
        </p:spPr>
        <p:txBody>
          <a:bodyPr anchor="t" rtlCol="false" tIns="0" lIns="0" bIns="0" rIns="0">
            <a:spAutoFit/>
          </a:bodyPr>
          <a:lstStyle/>
          <a:p>
            <a:pPr algn="just" marL="578267" indent="-289133" lvl="1">
              <a:lnSpc>
                <a:spcPts val="3749"/>
              </a:lnSpc>
              <a:buAutoNum type="arabicPeriod" startAt="1"/>
            </a:pPr>
            <a:r>
              <a:rPr lang="en-US" sz="2678">
                <a:solidFill>
                  <a:srgbClr val="000000"/>
                </a:solidFill>
                <a:latin typeface="Helvetica World"/>
                <a:ea typeface="Helvetica World"/>
                <a:cs typeface="Helvetica World"/>
                <a:sym typeface="Helvetica World"/>
              </a:rPr>
              <a:t>Sisi Discriminator: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48720" y="3563178"/>
            <a:ext cx="15071166" cy="5589819"/>
          </a:xfrm>
          <a:prstGeom prst="rect">
            <a:avLst/>
          </a:prstGeom>
        </p:spPr>
        <p:txBody>
          <a:bodyPr anchor="t" rtlCol="false" tIns="0" lIns="0" bIns="0" rIns="0">
            <a:spAutoFit/>
          </a:bodyPr>
          <a:lstStyle/>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Berbeda dengan G</a:t>
            </a:r>
            <a:r>
              <a:rPr lang="en-US" sz="2678">
                <a:solidFill>
                  <a:srgbClr val="000000"/>
                </a:solidFill>
                <a:latin typeface="Helvetica World"/>
                <a:ea typeface="Helvetica World"/>
                <a:cs typeface="Helvetica World"/>
                <a:sym typeface="Helvetica World"/>
              </a:rPr>
              <a:t>enerator, Discriminator bekerja seperti "Filter Penyaring". Ia menerima gambar lengkap, lalu mengecilk</a:t>
            </a:r>
            <a:r>
              <a:rPr lang="en-US" sz="2678">
                <a:solidFill>
                  <a:srgbClr val="000000"/>
                </a:solidFill>
                <a:latin typeface="Helvetica World"/>
                <a:ea typeface="Helvetica World"/>
                <a:cs typeface="Helvetica World"/>
                <a:sym typeface="Helvetica World"/>
              </a:rPr>
              <a:t>an informasinya untuk mengambil keputusan.</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Proses Layer:</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Menerima gambar 28 x 28 (baik dari dataset as</a:t>
            </a:r>
            <a:r>
              <a:rPr lang="en-US" sz="2678">
                <a:solidFill>
                  <a:srgbClr val="000000"/>
                </a:solidFill>
                <a:latin typeface="Helvetica World"/>
                <a:ea typeface="Helvetica World"/>
                <a:cs typeface="Helvetica World"/>
                <a:sym typeface="Helvetica World"/>
              </a:rPr>
              <a:t>li maupun dari Generator).</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Merapratkan gambar menjadi satu baris</a:t>
            </a:r>
            <a:r>
              <a:rPr lang="en-US" sz="2678">
                <a:solidFill>
                  <a:srgbClr val="000000"/>
                </a:solidFill>
                <a:latin typeface="Helvetica World"/>
                <a:ea typeface="Helvetica World"/>
                <a:cs typeface="Helvetica World"/>
                <a:sym typeface="Helvetica World"/>
              </a:rPr>
              <a:t> dat</a:t>
            </a:r>
            <a:r>
              <a:rPr lang="en-US" sz="2678">
                <a:solidFill>
                  <a:srgbClr val="000000"/>
                </a:solidFill>
                <a:latin typeface="Helvetica World"/>
                <a:ea typeface="Helvetica World"/>
                <a:cs typeface="Helvetica World"/>
                <a:sym typeface="Helvetica World"/>
              </a:rPr>
              <a:t>a (Flattening).</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Melewati lapisan saraf untuk mencari kejanggalan atau ciri khas angka yang asli.</a:t>
            </a:r>
          </a:p>
          <a:p>
            <a:pPr algn="just" marL="578267" indent="-289133" lvl="1">
              <a:lnSpc>
                <a:spcPts val="3749"/>
              </a:lnSpc>
              <a:buFont typeface="Arial"/>
              <a:buChar char="•"/>
            </a:pPr>
            <a:r>
              <a:rPr lang="en-US" sz="2678">
                <a:solidFill>
                  <a:srgbClr val="000000"/>
                </a:solidFill>
                <a:latin typeface="Helvetica World"/>
                <a:ea typeface="Helvetica World"/>
                <a:cs typeface="Helvetica World"/>
                <a:sym typeface="Helvetica World"/>
              </a:rPr>
              <a:t>Output Akhir: Satu angka probabilitas antara 0 (Palsu) hingga 1 (Asli).</a:t>
            </a:r>
          </a:p>
          <a:p>
            <a:pPr algn="just">
              <a:lnSpc>
                <a:spcPts val="3749"/>
              </a:lnSpc>
            </a:pPr>
          </a:p>
          <a:p>
            <a:pPr algn="just">
              <a:lnSpc>
                <a:spcPts val="3749"/>
              </a:lnSpc>
            </a:pPr>
            <a:r>
              <a:rPr lang="en-US" sz="2678">
                <a:solidFill>
                  <a:srgbClr val="000000"/>
                </a:solidFill>
                <a:latin typeface="Helvetica World"/>
                <a:ea typeface="Helvetica World"/>
                <a:cs typeface="Helvetica World"/>
                <a:sym typeface="Helvetica World"/>
              </a:rPr>
              <a:t>Dalam kedua model ini, kita menggunakan LeakyReLU sebagai "katup pengaman". Fungsinya adalah membiarkan sedikit informasi tetap mengalir meskipun nilainya negatif, sehingga saraf model tidak "mati" (dead neuron) selama proses kompetisi yang keras.</a:t>
            </a:r>
          </a:p>
          <a:p>
            <a:pPr algn="just" marL="0" indent="0" lvl="0">
              <a:lnSpc>
                <a:spcPts val="3749"/>
              </a:lnSpc>
            </a:pPr>
          </a:p>
        </p:txBody>
      </p:sp>
      <p:sp>
        <p:nvSpPr>
          <p:cNvPr name="Freeform 5" id="5"/>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TextBox 7" id="7"/>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Arsitektur Model: Jaringan dan Konfigurasi Pelatihan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5" id="5"/>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561975" y="4238097"/>
            <a:ext cx="4425126" cy="4571931"/>
          </a:xfrm>
          <a:custGeom>
            <a:avLst/>
            <a:gdLst/>
            <a:ahLst/>
            <a:cxnLst/>
            <a:rect r="r" b="b" t="t" l="l"/>
            <a:pathLst>
              <a:path h="4571931" w="4425126">
                <a:moveTo>
                  <a:pt x="0" y="0"/>
                </a:moveTo>
                <a:lnTo>
                  <a:pt x="4425126" y="0"/>
                </a:lnTo>
                <a:lnTo>
                  <a:pt x="4425126" y="4571931"/>
                </a:lnTo>
                <a:lnTo>
                  <a:pt x="0" y="4571931"/>
                </a:lnTo>
                <a:lnTo>
                  <a:pt x="0" y="0"/>
                </a:lnTo>
                <a:close/>
              </a:path>
            </a:pathLst>
          </a:custGeom>
          <a:blipFill>
            <a:blip r:embed="rId8"/>
            <a:stretch>
              <a:fillRect l="0" t="0" r="0" b="0"/>
            </a:stretch>
          </a:blipFill>
        </p:spPr>
      </p:sp>
      <p:sp>
        <p:nvSpPr>
          <p:cNvPr name="Freeform 7" id="7"/>
          <p:cNvSpPr/>
          <p:nvPr/>
        </p:nvSpPr>
        <p:spPr>
          <a:xfrm flipH="false" flipV="false" rot="0">
            <a:off x="5074004" y="4238097"/>
            <a:ext cx="4441305" cy="4571931"/>
          </a:xfrm>
          <a:custGeom>
            <a:avLst/>
            <a:gdLst/>
            <a:ahLst/>
            <a:cxnLst/>
            <a:rect r="r" b="b" t="t" l="l"/>
            <a:pathLst>
              <a:path h="4571931" w="4441305">
                <a:moveTo>
                  <a:pt x="0" y="0"/>
                </a:moveTo>
                <a:lnTo>
                  <a:pt x="4441304" y="0"/>
                </a:lnTo>
                <a:lnTo>
                  <a:pt x="4441304" y="4571931"/>
                </a:lnTo>
                <a:lnTo>
                  <a:pt x="0" y="4571931"/>
                </a:lnTo>
                <a:lnTo>
                  <a:pt x="0" y="0"/>
                </a:lnTo>
                <a:close/>
              </a:path>
            </a:pathLst>
          </a:custGeom>
          <a:blipFill>
            <a:blip r:embed="rId9"/>
            <a:stretch>
              <a:fillRect l="0" t="0" r="0" b="0"/>
            </a:stretch>
          </a:blipFill>
        </p:spPr>
      </p:sp>
      <p:sp>
        <p:nvSpPr>
          <p:cNvPr name="TextBox 8" id="8"/>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Perkembangan Visual: Bagaimana Model Belajar (Epoch 1 - 1000)</a:t>
            </a:r>
          </a:p>
        </p:txBody>
      </p:sp>
      <p:sp>
        <p:nvSpPr>
          <p:cNvPr name="TextBox 9" id="9"/>
          <p:cNvSpPr txBox="true"/>
          <p:nvPr/>
        </p:nvSpPr>
        <p:spPr>
          <a:xfrm rot="0">
            <a:off x="3254856" y="3304609"/>
            <a:ext cx="4863554" cy="546735"/>
          </a:xfrm>
          <a:prstGeom prst="rect">
            <a:avLst/>
          </a:prstGeom>
        </p:spPr>
        <p:txBody>
          <a:bodyPr anchor="t" rtlCol="false" tIns="0" lIns="0" bIns="0" rIns="0">
            <a:spAutoFit/>
          </a:bodyPr>
          <a:lstStyle/>
          <a:p>
            <a:pPr algn="ctr">
              <a:lnSpc>
                <a:spcPts val="4800"/>
              </a:lnSpc>
              <a:spcBef>
                <a:spcPct val="0"/>
              </a:spcBef>
            </a:pPr>
            <a:r>
              <a:rPr lang="en-US" sz="2400">
                <a:solidFill>
                  <a:srgbClr val="FFFFFF"/>
                </a:solidFill>
                <a:latin typeface="Helvetica World"/>
                <a:ea typeface="Helvetica World"/>
                <a:cs typeface="Helvetica World"/>
                <a:sym typeface="Helvetica World"/>
              </a:rPr>
              <a:t>Sisi Generator (Arsitektur Ekspansif)</a:t>
            </a:r>
          </a:p>
        </p:txBody>
      </p:sp>
      <p:sp>
        <p:nvSpPr>
          <p:cNvPr name="TextBox 10" id="10"/>
          <p:cNvSpPr txBox="true"/>
          <p:nvPr/>
        </p:nvSpPr>
        <p:spPr>
          <a:xfrm rot="0">
            <a:off x="1848720" y="3563178"/>
            <a:ext cx="15071166" cy="455844"/>
          </a:xfrm>
          <a:prstGeom prst="rect">
            <a:avLst/>
          </a:prstGeom>
        </p:spPr>
        <p:txBody>
          <a:bodyPr anchor="t" rtlCol="false" tIns="0" lIns="0" bIns="0" rIns="0">
            <a:spAutoFit/>
          </a:bodyPr>
          <a:lstStyle/>
          <a:p>
            <a:pPr algn="just" marL="578267" indent="-289133" lvl="1">
              <a:lnSpc>
                <a:spcPts val="3749"/>
              </a:lnSpc>
              <a:buAutoNum type="arabicPeriod" startAt="1"/>
            </a:pPr>
            <a:r>
              <a:rPr lang="en-US" sz="2678">
                <a:solidFill>
                  <a:srgbClr val="000000"/>
                </a:solidFill>
                <a:latin typeface="Helvetica World"/>
                <a:ea typeface="Helvetica World"/>
                <a:cs typeface="Helvetica World"/>
                <a:sym typeface="Helvetica World"/>
              </a:rPr>
              <a:t>Tahap Awal (Epoch 1 - 200): Mencari Bentuk</a:t>
            </a:r>
          </a:p>
        </p:txBody>
      </p:sp>
      <p:sp>
        <p:nvSpPr>
          <p:cNvPr name="TextBox 11" id="11"/>
          <p:cNvSpPr txBox="true"/>
          <p:nvPr/>
        </p:nvSpPr>
        <p:spPr>
          <a:xfrm rot="0">
            <a:off x="9380233" y="3966871"/>
            <a:ext cx="7879067" cy="6033135"/>
          </a:xfrm>
          <a:prstGeom prst="rect">
            <a:avLst/>
          </a:prstGeom>
        </p:spPr>
        <p:txBody>
          <a:bodyPr anchor="t" rtlCol="false" tIns="0" lIns="0" bIns="0" rIns="0">
            <a:spAutoFit/>
          </a:bodyPr>
          <a:lstStyle/>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Kondisi: Gambar bertransisi dari gangguan acak (noise) total menuju pola dasar yang mulai menyerupai struktur angka.</a:t>
            </a:r>
          </a:p>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Penjelasan: Di fase ini, Generator mulai membangun "logika" visualnya. Dari bobot yang awalnya acak pada Epoch 1, model secara bertahap belajar mengenali posisi piksel dan struktur geometri dasar (seperti garis dan lengkungan). Meskipun masih kasar, pada Epoch 200 model sudah mampu membedakan objek angka dari latar belakangnya.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5" id="5"/>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518231" y="4238097"/>
            <a:ext cx="4409229" cy="4571931"/>
          </a:xfrm>
          <a:custGeom>
            <a:avLst/>
            <a:gdLst/>
            <a:ahLst/>
            <a:cxnLst/>
            <a:rect r="r" b="b" t="t" l="l"/>
            <a:pathLst>
              <a:path h="4571931" w="4409229">
                <a:moveTo>
                  <a:pt x="0" y="0"/>
                </a:moveTo>
                <a:lnTo>
                  <a:pt x="4409229" y="0"/>
                </a:lnTo>
                <a:lnTo>
                  <a:pt x="4409229" y="4571931"/>
                </a:lnTo>
                <a:lnTo>
                  <a:pt x="0" y="4571931"/>
                </a:lnTo>
                <a:lnTo>
                  <a:pt x="0" y="0"/>
                </a:lnTo>
                <a:close/>
              </a:path>
            </a:pathLst>
          </a:custGeom>
          <a:blipFill>
            <a:blip r:embed="rId8"/>
            <a:stretch>
              <a:fillRect l="0" t="0" r="0" b="0"/>
            </a:stretch>
          </a:blipFill>
        </p:spPr>
      </p:sp>
      <p:sp>
        <p:nvSpPr>
          <p:cNvPr name="Freeform 7" id="7"/>
          <p:cNvSpPr/>
          <p:nvPr/>
        </p:nvSpPr>
        <p:spPr>
          <a:xfrm flipH="false" flipV="false" rot="0">
            <a:off x="5061211" y="4238097"/>
            <a:ext cx="4409229" cy="4571931"/>
          </a:xfrm>
          <a:custGeom>
            <a:avLst/>
            <a:gdLst/>
            <a:ahLst/>
            <a:cxnLst/>
            <a:rect r="r" b="b" t="t" l="l"/>
            <a:pathLst>
              <a:path h="4571931" w="4409229">
                <a:moveTo>
                  <a:pt x="0" y="0"/>
                </a:moveTo>
                <a:lnTo>
                  <a:pt x="4409229" y="0"/>
                </a:lnTo>
                <a:lnTo>
                  <a:pt x="4409229" y="4571931"/>
                </a:lnTo>
                <a:lnTo>
                  <a:pt x="0" y="4571931"/>
                </a:lnTo>
                <a:lnTo>
                  <a:pt x="0" y="0"/>
                </a:lnTo>
                <a:close/>
              </a:path>
            </a:pathLst>
          </a:custGeom>
          <a:blipFill>
            <a:blip r:embed="rId9"/>
            <a:stretch>
              <a:fillRect l="0" t="0" r="0" b="0"/>
            </a:stretch>
          </a:blipFill>
        </p:spPr>
      </p:sp>
      <p:sp>
        <p:nvSpPr>
          <p:cNvPr name="TextBox 8" id="8"/>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Perkembangan Visual: Bagaimana Model Belajar (Epoch 1 - 1000)</a:t>
            </a:r>
          </a:p>
        </p:txBody>
      </p:sp>
      <p:sp>
        <p:nvSpPr>
          <p:cNvPr name="TextBox 9" id="9"/>
          <p:cNvSpPr txBox="true"/>
          <p:nvPr/>
        </p:nvSpPr>
        <p:spPr>
          <a:xfrm rot="0">
            <a:off x="3254856" y="3304609"/>
            <a:ext cx="4863554" cy="546735"/>
          </a:xfrm>
          <a:prstGeom prst="rect">
            <a:avLst/>
          </a:prstGeom>
        </p:spPr>
        <p:txBody>
          <a:bodyPr anchor="t" rtlCol="false" tIns="0" lIns="0" bIns="0" rIns="0">
            <a:spAutoFit/>
          </a:bodyPr>
          <a:lstStyle/>
          <a:p>
            <a:pPr algn="ctr">
              <a:lnSpc>
                <a:spcPts val="4800"/>
              </a:lnSpc>
              <a:spcBef>
                <a:spcPct val="0"/>
              </a:spcBef>
            </a:pPr>
            <a:r>
              <a:rPr lang="en-US" sz="2400">
                <a:solidFill>
                  <a:srgbClr val="FFFFFF"/>
                </a:solidFill>
                <a:latin typeface="Helvetica World"/>
                <a:ea typeface="Helvetica World"/>
                <a:cs typeface="Helvetica World"/>
                <a:sym typeface="Helvetica World"/>
              </a:rPr>
              <a:t>Sisi Generator (Arsitektur Ekspansif)</a:t>
            </a:r>
          </a:p>
        </p:txBody>
      </p:sp>
      <p:sp>
        <p:nvSpPr>
          <p:cNvPr name="TextBox 10" id="10"/>
          <p:cNvSpPr txBox="true"/>
          <p:nvPr/>
        </p:nvSpPr>
        <p:spPr>
          <a:xfrm rot="0">
            <a:off x="1848720" y="3563178"/>
            <a:ext cx="15071166" cy="455844"/>
          </a:xfrm>
          <a:prstGeom prst="rect">
            <a:avLst/>
          </a:prstGeom>
        </p:spPr>
        <p:txBody>
          <a:bodyPr anchor="t" rtlCol="false" tIns="0" lIns="0" bIns="0" rIns="0">
            <a:spAutoFit/>
          </a:bodyPr>
          <a:lstStyle/>
          <a:p>
            <a:pPr algn="just" marL="578267" indent="-289133" lvl="1">
              <a:lnSpc>
                <a:spcPts val="3749"/>
              </a:lnSpc>
              <a:buAutoNum type="arabicPeriod" startAt="1"/>
            </a:pPr>
            <a:r>
              <a:rPr lang="en-US" sz="2678">
                <a:solidFill>
                  <a:srgbClr val="000000"/>
                </a:solidFill>
                <a:latin typeface="Helvetica World"/>
                <a:ea typeface="Helvetica World"/>
                <a:cs typeface="Helvetica World"/>
                <a:sym typeface="Helvetica World"/>
              </a:rPr>
              <a:t>Tahap Pembentukan (Epoch 300 - 600): Mulai Mengenal Pola</a:t>
            </a:r>
          </a:p>
        </p:txBody>
      </p:sp>
      <p:sp>
        <p:nvSpPr>
          <p:cNvPr name="TextBox 11" id="11"/>
          <p:cNvSpPr txBox="true"/>
          <p:nvPr/>
        </p:nvSpPr>
        <p:spPr>
          <a:xfrm rot="0">
            <a:off x="9380233" y="3966871"/>
            <a:ext cx="7879067" cy="6642735"/>
          </a:xfrm>
          <a:prstGeom prst="rect">
            <a:avLst/>
          </a:prstGeom>
        </p:spPr>
        <p:txBody>
          <a:bodyPr anchor="t" rtlCol="false" tIns="0" lIns="0" bIns="0" rIns="0">
            <a:spAutoFit/>
          </a:bodyPr>
          <a:lstStyle/>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Kondisi: Tampilan gambar semakin bersih dari gangguan (noise) dan pola angka terlihat jauh lebih solid serta tegas dibandingkan tahap sebelumnya.</a:t>
            </a:r>
          </a:p>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Penjelasan: Pada fase ini, model sudah melewati tahap pencarian bentuk dasar dan mulai fokus pada konsistensi struktur. Generator kini lebih mahir dalam meniru detail lengkungan dan sudut angka secara spesifik, sehingga variasi antar angka (seperti perbedaan antara '3', '5', dan '8') menjadi lebih jelas dan mudah dibedakan.</a:t>
            </a:r>
          </a:p>
          <a:p>
            <a:pPr algn="just">
              <a:lnSpc>
                <a:spcPts val="48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5" id="5"/>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641171" y="4248588"/>
            <a:ext cx="4360749" cy="4539069"/>
          </a:xfrm>
          <a:custGeom>
            <a:avLst/>
            <a:gdLst/>
            <a:ahLst/>
            <a:cxnLst/>
            <a:rect r="r" b="b" t="t" l="l"/>
            <a:pathLst>
              <a:path h="4539069" w="4360749">
                <a:moveTo>
                  <a:pt x="0" y="0"/>
                </a:moveTo>
                <a:lnTo>
                  <a:pt x="4360749" y="0"/>
                </a:lnTo>
                <a:lnTo>
                  <a:pt x="4360749" y="4539069"/>
                </a:lnTo>
                <a:lnTo>
                  <a:pt x="0" y="4539069"/>
                </a:lnTo>
                <a:lnTo>
                  <a:pt x="0" y="0"/>
                </a:lnTo>
                <a:close/>
              </a:path>
            </a:pathLst>
          </a:custGeom>
          <a:blipFill>
            <a:blip r:embed="rId8"/>
            <a:stretch>
              <a:fillRect l="0" t="0" r="0" b="0"/>
            </a:stretch>
          </a:blipFill>
        </p:spPr>
      </p:sp>
      <p:sp>
        <p:nvSpPr>
          <p:cNvPr name="Freeform 7" id="7"/>
          <p:cNvSpPr/>
          <p:nvPr/>
        </p:nvSpPr>
        <p:spPr>
          <a:xfrm flipH="false" flipV="false" rot="0">
            <a:off x="5135427" y="4248588"/>
            <a:ext cx="4344538" cy="4539069"/>
          </a:xfrm>
          <a:custGeom>
            <a:avLst/>
            <a:gdLst/>
            <a:ahLst/>
            <a:cxnLst/>
            <a:rect r="r" b="b" t="t" l="l"/>
            <a:pathLst>
              <a:path h="4539069" w="4344538">
                <a:moveTo>
                  <a:pt x="0" y="0"/>
                </a:moveTo>
                <a:lnTo>
                  <a:pt x="4344538" y="0"/>
                </a:lnTo>
                <a:lnTo>
                  <a:pt x="4344538" y="4539069"/>
                </a:lnTo>
                <a:lnTo>
                  <a:pt x="0" y="4539069"/>
                </a:lnTo>
                <a:lnTo>
                  <a:pt x="0" y="0"/>
                </a:lnTo>
                <a:close/>
              </a:path>
            </a:pathLst>
          </a:custGeom>
          <a:blipFill>
            <a:blip r:embed="rId9"/>
            <a:stretch>
              <a:fillRect l="0" t="0" r="0" b="0"/>
            </a:stretch>
          </a:blipFill>
        </p:spPr>
      </p:sp>
      <p:sp>
        <p:nvSpPr>
          <p:cNvPr name="TextBox 8" id="8"/>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Perkembangan Visual: Bagaimana Model Belajar (Epoch 1 - 1000)</a:t>
            </a:r>
          </a:p>
        </p:txBody>
      </p:sp>
      <p:sp>
        <p:nvSpPr>
          <p:cNvPr name="TextBox 9" id="9"/>
          <p:cNvSpPr txBox="true"/>
          <p:nvPr/>
        </p:nvSpPr>
        <p:spPr>
          <a:xfrm rot="0">
            <a:off x="3254856" y="3304609"/>
            <a:ext cx="4863554" cy="546735"/>
          </a:xfrm>
          <a:prstGeom prst="rect">
            <a:avLst/>
          </a:prstGeom>
        </p:spPr>
        <p:txBody>
          <a:bodyPr anchor="t" rtlCol="false" tIns="0" lIns="0" bIns="0" rIns="0">
            <a:spAutoFit/>
          </a:bodyPr>
          <a:lstStyle/>
          <a:p>
            <a:pPr algn="ctr">
              <a:lnSpc>
                <a:spcPts val="4800"/>
              </a:lnSpc>
              <a:spcBef>
                <a:spcPct val="0"/>
              </a:spcBef>
            </a:pPr>
            <a:r>
              <a:rPr lang="en-US" sz="2400">
                <a:solidFill>
                  <a:srgbClr val="FFFFFF"/>
                </a:solidFill>
                <a:latin typeface="Helvetica World"/>
                <a:ea typeface="Helvetica World"/>
                <a:cs typeface="Helvetica World"/>
                <a:sym typeface="Helvetica World"/>
              </a:rPr>
              <a:t>Sisi Generator (Arsitektur Ekspansif)</a:t>
            </a:r>
          </a:p>
        </p:txBody>
      </p:sp>
      <p:sp>
        <p:nvSpPr>
          <p:cNvPr name="TextBox 10" id="10"/>
          <p:cNvSpPr txBox="true"/>
          <p:nvPr/>
        </p:nvSpPr>
        <p:spPr>
          <a:xfrm rot="0">
            <a:off x="1848720" y="3563178"/>
            <a:ext cx="15071166" cy="455844"/>
          </a:xfrm>
          <a:prstGeom prst="rect">
            <a:avLst/>
          </a:prstGeom>
        </p:spPr>
        <p:txBody>
          <a:bodyPr anchor="t" rtlCol="false" tIns="0" lIns="0" bIns="0" rIns="0">
            <a:spAutoFit/>
          </a:bodyPr>
          <a:lstStyle/>
          <a:p>
            <a:pPr algn="just" marL="578267" indent="-289133" lvl="1">
              <a:lnSpc>
                <a:spcPts val="3749"/>
              </a:lnSpc>
              <a:buAutoNum type="arabicPeriod" startAt="1"/>
            </a:pPr>
            <a:r>
              <a:rPr lang="en-US" sz="2678">
                <a:solidFill>
                  <a:srgbClr val="000000"/>
                </a:solidFill>
                <a:latin typeface="Helvetica World"/>
                <a:ea typeface="Helvetica World"/>
                <a:cs typeface="Helvetica World"/>
                <a:sym typeface="Helvetica World"/>
              </a:rPr>
              <a:t>Tahap Penajaman (Epoch 700 - 900): Struktur Angka Terlihat</a:t>
            </a:r>
          </a:p>
        </p:txBody>
      </p:sp>
      <p:sp>
        <p:nvSpPr>
          <p:cNvPr name="TextBox 11" id="11"/>
          <p:cNvSpPr txBox="true"/>
          <p:nvPr/>
        </p:nvSpPr>
        <p:spPr>
          <a:xfrm rot="0">
            <a:off x="9380233" y="3966871"/>
            <a:ext cx="7879067" cy="5423535"/>
          </a:xfrm>
          <a:prstGeom prst="rect">
            <a:avLst/>
          </a:prstGeom>
        </p:spPr>
        <p:txBody>
          <a:bodyPr anchor="t" rtlCol="false" tIns="0" lIns="0" bIns="0" rIns="0">
            <a:spAutoFit/>
          </a:bodyPr>
          <a:lstStyle/>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Kondisi: Angka-angka seperti 1, 8, atau 0 sudah mulai bisa dikenali dengan jelas oleh mata manusia.</a:t>
            </a:r>
          </a:p>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Penjelasan: Gangguan latar belakang semakin hilang karena model sudah memahami "anatomi" angka tulisan tangan. Pada fase ini, pola dasar sudah sangat kuat dan Generator fokus pada pemantapan detail agar bentuk angka terlihat lebih konsisten dan menyatu.</a:t>
            </a:r>
          </a:p>
          <a:p>
            <a:pPr algn="just">
              <a:lnSpc>
                <a:spcPts val="48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5" id="5"/>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Freeform 6" id="6"/>
          <p:cNvSpPr/>
          <p:nvPr/>
        </p:nvSpPr>
        <p:spPr>
          <a:xfrm flipH="false" flipV="false" rot="0">
            <a:off x="771525" y="4297786"/>
            <a:ext cx="4398707" cy="4528558"/>
          </a:xfrm>
          <a:custGeom>
            <a:avLst/>
            <a:gdLst/>
            <a:ahLst/>
            <a:cxnLst/>
            <a:rect r="r" b="b" t="t" l="l"/>
            <a:pathLst>
              <a:path h="4528558" w="4398707">
                <a:moveTo>
                  <a:pt x="0" y="0"/>
                </a:moveTo>
                <a:lnTo>
                  <a:pt x="4398707" y="0"/>
                </a:lnTo>
                <a:lnTo>
                  <a:pt x="4398707" y="4528559"/>
                </a:lnTo>
                <a:lnTo>
                  <a:pt x="0" y="4528559"/>
                </a:lnTo>
                <a:lnTo>
                  <a:pt x="0" y="0"/>
                </a:lnTo>
                <a:close/>
              </a:path>
            </a:pathLst>
          </a:custGeom>
          <a:blipFill>
            <a:blip r:embed="rId8"/>
            <a:stretch>
              <a:fillRect l="0" t="0" r="0" b="0"/>
            </a:stretch>
          </a:blipFill>
        </p:spPr>
      </p:sp>
      <p:sp>
        <p:nvSpPr>
          <p:cNvPr name="Freeform 7" id="7"/>
          <p:cNvSpPr/>
          <p:nvPr/>
        </p:nvSpPr>
        <p:spPr>
          <a:xfrm flipH="false" flipV="false" rot="0">
            <a:off x="5227382" y="4307214"/>
            <a:ext cx="4332536" cy="4509703"/>
          </a:xfrm>
          <a:custGeom>
            <a:avLst/>
            <a:gdLst/>
            <a:ahLst/>
            <a:cxnLst/>
            <a:rect r="r" b="b" t="t" l="l"/>
            <a:pathLst>
              <a:path h="4509703" w="4332536">
                <a:moveTo>
                  <a:pt x="0" y="0"/>
                </a:moveTo>
                <a:lnTo>
                  <a:pt x="4332536" y="0"/>
                </a:lnTo>
                <a:lnTo>
                  <a:pt x="4332536" y="4509703"/>
                </a:lnTo>
                <a:lnTo>
                  <a:pt x="0" y="4509703"/>
                </a:lnTo>
                <a:lnTo>
                  <a:pt x="0" y="0"/>
                </a:lnTo>
                <a:close/>
              </a:path>
            </a:pathLst>
          </a:custGeom>
          <a:blipFill>
            <a:blip r:embed="rId9"/>
            <a:stretch>
              <a:fillRect l="0" t="0" r="0" b="0"/>
            </a:stretch>
          </a:blipFill>
        </p:spPr>
      </p:sp>
      <p:sp>
        <p:nvSpPr>
          <p:cNvPr name="TextBox 8" id="8"/>
          <p:cNvSpPr txBox="true"/>
          <p:nvPr/>
        </p:nvSpPr>
        <p:spPr>
          <a:xfrm rot="0">
            <a:off x="1529180" y="1380802"/>
            <a:ext cx="15730120" cy="1889125"/>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Perkembangan Visual: Bagaimana Model Belajar (Epoch 1 - 1000)</a:t>
            </a:r>
          </a:p>
        </p:txBody>
      </p:sp>
      <p:sp>
        <p:nvSpPr>
          <p:cNvPr name="TextBox 9" id="9"/>
          <p:cNvSpPr txBox="true"/>
          <p:nvPr/>
        </p:nvSpPr>
        <p:spPr>
          <a:xfrm rot="0">
            <a:off x="3254856" y="3304609"/>
            <a:ext cx="4863554" cy="546735"/>
          </a:xfrm>
          <a:prstGeom prst="rect">
            <a:avLst/>
          </a:prstGeom>
        </p:spPr>
        <p:txBody>
          <a:bodyPr anchor="t" rtlCol="false" tIns="0" lIns="0" bIns="0" rIns="0">
            <a:spAutoFit/>
          </a:bodyPr>
          <a:lstStyle/>
          <a:p>
            <a:pPr algn="ctr">
              <a:lnSpc>
                <a:spcPts val="4800"/>
              </a:lnSpc>
              <a:spcBef>
                <a:spcPct val="0"/>
              </a:spcBef>
            </a:pPr>
            <a:r>
              <a:rPr lang="en-US" sz="2400">
                <a:solidFill>
                  <a:srgbClr val="FFFFFF"/>
                </a:solidFill>
                <a:latin typeface="Helvetica World"/>
                <a:ea typeface="Helvetica World"/>
                <a:cs typeface="Helvetica World"/>
                <a:sym typeface="Helvetica World"/>
              </a:rPr>
              <a:t>Sisi Generator (Arsitektur Ekspansif)</a:t>
            </a:r>
          </a:p>
        </p:txBody>
      </p:sp>
      <p:sp>
        <p:nvSpPr>
          <p:cNvPr name="TextBox 10" id="10"/>
          <p:cNvSpPr txBox="true"/>
          <p:nvPr/>
        </p:nvSpPr>
        <p:spPr>
          <a:xfrm rot="0">
            <a:off x="1848720" y="3563178"/>
            <a:ext cx="15071166" cy="455844"/>
          </a:xfrm>
          <a:prstGeom prst="rect">
            <a:avLst/>
          </a:prstGeom>
        </p:spPr>
        <p:txBody>
          <a:bodyPr anchor="t" rtlCol="false" tIns="0" lIns="0" bIns="0" rIns="0">
            <a:spAutoFit/>
          </a:bodyPr>
          <a:lstStyle/>
          <a:p>
            <a:pPr algn="just" marL="578267" indent="-289133" lvl="1">
              <a:lnSpc>
                <a:spcPts val="3749"/>
              </a:lnSpc>
              <a:buAutoNum type="arabicPeriod" startAt="1"/>
            </a:pPr>
            <a:r>
              <a:rPr lang="en-US" sz="2678">
                <a:solidFill>
                  <a:srgbClr val="000000"/>
                </a:solidFill>
                <a:latin typeface="Helvetica World"/>
                <a:ea typeface="Helvetica World"/>
                <a:cs typeface="Helvetica World"/>
                <a:sym typeface="Helvetica World"/>
              </a:rPr>
              <a:t>Tahap Matang (Epoch 1000): Hasil Optimal</a:t>
            </a:r>
          </a:p>
        </p:txBody>
      </p:sp>
      <p:sp>
        <p:nvSpPr>
          <p:cNvPr name="TextBox 11" id="11"/>
          <p:cNvSpPr txBox="true"/>
          <p:nvPr/>
        </p:nvSpPr>
        <p:spPr>
          <a:xfrm rot="0">
            <a:off x="9380233" y="3966871"/>
            <a:ext cx="7879067" cy="6033135"/>
          </a:xfrm>
          <a:prstGeom prst="rect">
            <a:avLst/>
          </a:prstGeom>
        </p:spPr>
        <p:txBody>
          <a:bodyPr anchor="t" rtlCol="false" tIns="0" lIns="0" bIns="0" rIns="0">
            <a:spAutoFit/>
          </a:bodyPr>
          <a:lstStyle/>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Kondisi: Angka terlihat halus, solid, dan minim gangguan visual sehingga mudah dibedakan secara jelas.</a:t>
            </a:r>
          </a:p>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Penjelasan: Generator telah sukses menguasai variasi gaya penulisan angka secara natural. Hasil pada Epoch 1000 ini merupakan representasi performa optimal dalam siklus pelatihan saat ini; meskipun detail dapat terus ditingkatkan hingga 6000 epoch, capaian ini sudah sangat efektif membuktikan keberhasilan model dalam menghasilkan data yang realistis.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5377" y="9766319"/>
            <a:ext cx="9145643" cy="1030963"/>
          </a:xfrm>
          <a:custGeom>
            <a:avLst/>
            <a:gdLst/>
            <a:ahLst/>
            <a:cxnLst/>
            <a:rect r="r" b="b" t="t" l="l"/>
            <a:pathLst>
              <a:path h="1030963" w="9145643">
                <a:moveTo>
                  <a:pt x="0" y="0"/>
                </a:moveTo>
                <a:lnTo>
                  <a:pt x="9145643" y="0"/>
                </a:lnTo>
                <a:lnTo>
                  <a:pt x="9145643" y="1030963"/>
                </a:lnTo>
                <a:lnTo>
                  <a:pt x="0" y="1030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318029" y="-3376224"/>
            <a:ext cx="3882542" cy="5649201"/>
          </a:xfrm>
          <a:custGeom>
            <a:avLst/>
            <a:gdLst/>
            <a:ahLst/>
            <a:cxnLst/>
            <a:rect r="r" b="b" t="t" l="l"/>
            <a:pathLst>
              <a:path h="5649201" w="3882542">
                <a:moveTo>
                  <a:pt x="3882542" y="0"/>
                </a:moveTo>
                <a:lnTo>
                  <a:pt x="0" y="0"/>
                </a:lnTo>
                <a:lnTo>
                  <a:pt x="0" y="5649201"/>
                </a:lnTo>
                <a:lnTo>
                  <a:pt x="3882542" y="5649201"/>
                </a:lnTo>
                <a:lnTo>
                  <a:pt x="38825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8231" y="758925"/>
            <a:ext cx="1020938" cy="444299"/>
          </a:xfrm>
          <a:custGeom>
            <a:avLst/>
            <a:gdLst/>
            <a:ahLst/>
            <a:cxnLst/>
            <a:rect r="r" b="b" t="t" l="l"/>
            <a:pathLst>
              <a:path h="444299" w="1020938">
                <a:moveTo>
                  <a:pt x="0" y="0"/>
                </a:moveTo>
                <a:lnTo>
                  <a:pt x="1020938" y="0"/>
                </a:lnTo>
                <a:lnTo>
                  <a:pt x="1020938" y="444300"/>
                </a:lnTo>
                <a:lnTo>
                  <a:pt x="0" y="444300"/>
                </a:lnTo>
                <a:lnTo>
                  <a:pt x="0" y="0"/>
                </a:lnTo>
                <a:close/>
              </a:path>
            </a:pathLst>
          </a:custGeom>
          <a:blipFill>
            <a:blip r:embed="rId6">
              <a:extLst>
                <a:ext uri="{96DAC541-7B7A-43D3-8B79-37D633B846F1}">
                  <asvg:svgBlip xmlns:asvg="http://schemas.microsoft.com/office/drawing/2016/SVG/main" r:embed="rId7"/>
                </a:ext>
              </a:extLst>
            </a:blip>
            <a:stretch>
              <a:fillRect l="-102703" t="0" r="0" b="-369196"/>
            </a:stretch>
          </a:blipFill>
        </p:spPr>
      </p:sp>
      <p:sp>
        <p:nvSpPr>
          <p:cNvPr name="TextBox 5" id="5"/>
          <p:cNvSpPr txBox="true"/>
          <p:nvPr/>
        </p:nvSpPr>
        <p:spPr>
          <a:xfrm rot="0">
            <a:off x="3254856" y="3304609"/>
            <a:ext cx="4863554" cy="546735"/>
          </a:xfrm>
          <a:prstGeom prst="rect">
            <a:avLst/>
          </a:prstGeom>
        </p:spPr>
        <p:txBody>
          <a:bodyPr anchor="t" rtlCol="false" tIns="0" lIns="0" bIns="0" rIns="0">
            <a:spAutoFit/>
          </a:bodyPr>
          <a:lstStyle/>
          <a:p>
            <a:pPr algn="ctr">
              <a:lnSpc>
                <a:spcPts val="4800"/>
              </a:lnSpc>
              <a:spcBef>
                <a:spcPct val="0"/>
              </a:spcBef>
            </a:pPr>
            <a:r>
              <a:rPr lang="en-US" sz="2400">
                <a:solidFill>
                  <a:srgbClr val="FFFFFF"/>
                </a:solidFill>
                <a:latin typeface="Helvetica World"/>
                <a:ea typeface="Helvetica World"/>
                <a:cs typeface="Helvetica World"/>
                <a:sym typeface="Helvetica World"/>
              </a:rPr>
              <a:t>Sisi Generator (Arsitektur Ekspansif)</a:t>
            </a:r>
          </a:p>
        </p:txBody>
      </p:sp>
      <p:sp>
        <p:nvSpPr>
          <p:cNvPr name="TextBox 6" id="6"/>
          <p:cNvSpPr txBox="true"/>
          <p:nvPr/>
        </p:nvSpPr>
        <p:spPr>
          <a:xfrm rot="0">
            <a:off x="9380233" y="3314134"/>
            <a:ext cx="7879067" cy="7252335"/>
          </a:xfrm>
          <a:prstGeom prst="rect">
            <a:avLst/>
          </a:prstGeom>
        </p:spPr>
        <p:txBody>
          <a:bodyPr anchor="t" rtlCol="false" tIns="0" lIns="0" bIns="0" rIns="0">
            <a:spAutoFit/>
          </a:bodyPr>
          <a:lstStyle/>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Stabilitas Grafik: Grafik Loss yang mendatar menunjukkan tercapainya </a:t>
            </a:r>
            <a:r>
              <a:rPr lang="en-US" sz="2400">
                <a:solidFill>
                  <a:srgbClr val="000000"/>
                </a:solidFill>
                <a:latin typeface="Helvetica World"/>
                <a:ea typeface="Helvetica World"/>
                <a:cs typeface="Helvetica World"/>
                <a:sym typeface="Helvetica World"/>
              </a:rPr>
              <a:t>Nash Equilibrium, menandakan proses pelatihan antara Generator dan Diskriminator berjalan stabil.</a:t>
            </a:r>
          </a:p>
          <a:p>
            <a:pPr algn="just" marL="518160" indent="-259080" lvl="1">
              <a:lnSpc>
                <a:spcPts val="4800"/>
              </a:lnSpc>
              <a:buFont typeface="Arial"/>
              <a:buChar char="•"/>
            </a:pPr>
            <a:r>
              <a:rPr lang="en-US" sz="2400">
                <a:solidFill>
                  <a:srgbClr val="000000"/>
                </a:solidFill>
                <a:latin typeface="Helvetica World"/>
                <a:ea typeface="Helvetica World"/>
                <a:cs typeface="Helvetica World"/>
                <a:sym typeface="Helvetica World"/>
              </a:rPr>
              <a:t>Efektivit</a:t>
            </a:r>
            <a:r>
              <a:rPr lang="en-US" sz="2400">
                <a:solidFill>
                  <a:srgbClr val="000000"/>
                </a:solidFill>
                <a:latin typeface="Helvetica World"/>
                <a:ea typeface="Helvetica World"/>
                <a:cs typeface="Helvetica World"/>
                <a:sym typeface="Helvetica World"/>
              </a:rPr>
              <a:t>as Model: Pada Epoch 1000, model berhasil menghasilkan angka yang realistis dan terbaca jelas, membuktikan efisiensi arsitektur yang digunakan.</a:t>
            </a:r>
          </a:p>
          <a:p>
            <a:pPr algn="just" marL="518160" indent="-259080" lvl="1">
              <a:lnSpc>
                <a:spcPts val="4800"/>
              </a:lnSpc>
              <a:spcBef>
                <a:spcPct val="0"/>
              </a:spcBef>
              <a:buFont typeface="Arial"/>
              <a:buChar char="•"/>
            </a:pPr>
            <a:r>
              <a:rPr lang="en-US" sz="2400">
                <a:solidFill>
                  <a:srgbClr val="000000"/>
                </a:solidFill>
                <a:latin typeface="Helvetica World"/>
                <a:ea typeface="Helvetica World"/>
                <a:cs typeface="Helvetica World"/>
                <a:sym typeface="Helvetica World"/>
              </a:rPr>
              <a:t>Potensi Pengembangan: Hasil ini merupakan fondasi yang kuat; meskipun detail d</a:t>
            </a:r>
            <a:r>
              <a:rPr lang="en-US" sz="2400">
                <a:solidFill>
                  <a:srgbClr val="000000"/>
                </a:solidFill>
                <a:latin typeface="Helvetica World"/>
                <a:ea typeface="Helvetica World"/>
                <a:cs typeface="Helvetica World"/>
                <a:sym typeface="Helvetica World"/>
              </a:rPr>
              <a:t>apat terus dipertajam hingga 6000 epoch, pencapaian saat ini sudah sangat representatif dalam menunjukkan keberhasilan model.</a:t>
            </a:r>
          </a:p>
          <a:p>
            <a:pPr algn="just">
              <a:lnSpc>
                <a:spcPts val="4800"/>
              </a:lnSpc>
              <a:spcBef>
                <a:spcPct val="0"/>
              </a:spcBef>
            </a:pPr>
          </a:p>
        </p:txBody>
      </p:sp>
      <p:sp>
        <p:nvSpPr>
          <p:cNvPr name="Freeform 7" id="7"/>
          <p:cNvSpPr/>
          <p:nvPr/>
        </p:nvSpPr>
        <p:spPr>
          <a:xfrm flipH="false" flipV="false" rot="0">
            <a:off x="1529180" y="3467165"/>
            <a:ext cx="7804506" cy="5177990"/>
          </a:xfrm>
          <a:custGeom>
            <a:avLst/>
            <a:gdLst/>
            <a:ahLst/>
            <a:cxnLst/>
            <a:rect r="r" b="b" t="t" l="l"/>
            <a:pathLst>
              <a:path h="5177990" w="7804506">
                <a:moveTo>
                  <a:pt x="0" y="0"/>
                </a:moveTo>
                <a:lnTo>
                  <a:pt x="7804506" y="0"/>
                </a:lnTo>
                <a:lnTo>
                  <a:pt x="7804506" y="5177990"/>
                </a:lnTo>
                <a:lnTo>
                  <a:pt x="0" y="5177990"/>
                </a:lnTo>
                <a:lnTo>
                  <a:pt x="0" y="0"/>
                </a:lnTo>
                <a:close/>
              </a:path>
            </a:pathLst>
          </a:custGeom>
          <a:blipFill>
            <a:blip r:embed="rId8"/>
            <a:stretch>
              <a:fillRect l="0" t="0" r="0" b="0"/>
            </a:stretch>
          </a:blipFill>
        </p:spPr>
      </p:sp>
      <p:sp>
        <p:nvSpPr>
          <p:cNvPr name="TextBox 8" id="8"/>
          <p:cNvSpPr txBox="true"/>
          <p:nvPr/>
        </p:nvSpPr>
        <p:spPr>
          <a:xfrm rot="0">
            <a:off x="1529180" y="1380802"/>
            <a:ext cx="15730120" cy="965200"/>
          </a:xfrm>
          <a:prstGeom prst="rect">
            <a:avLst/>
          </a:prstGeom>
        </p:spPr>
        <p:txBody>
          <a:bodyPr anchor="t" rtlCol="false" tIns="0" lIns="0" bIns="0" rIns="0">
            <a:spAutoFit/>
          </a:bodyPr>
          <a:lstStyle/>
          <a:p>
            <a:pPr algn="ctr">
              <a:lnSpc>
                <a:spcPts val="6500"/>
              </a:lnSpc>
            </a:pPr>
            <a:r>
              <a:rPr lang="en-US" sz="6500" b="true">
                <a:solidFill>
                  <a:srgbClr val="2A2A6D"/>
                </a:solidFill>
                <a:latin typeface="Helvetica World Bold"/>
                <a:ea typeface="Helvetica World Bold"/>
                <a:cs typeface="Helvetica World Bold"/>
                <a:sym typeface="Helvetica World Bold"/>
              </a:rPr>
              <a:t>Kesimpulan: Penilaian Keberhasilan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2571" y="-3376224"/>
            <a:ext cx="3882542" cy="5649201"/>
          </a:xfrm>
          <a:custGeom>
            <a:avLst/>
            <a:gdLst/>
            <a:ahLst/>
            <a:cxnLst/>
            <a:rect r="r" b="b" t="t" l="l"/>
            <a:pathLst>
              <a:path h="5649201" w="3882542">
                <a:moveTo>
                  <a:pt x="0" y="0"/>
                </a:moveTo>
                <a:lnTo>
                  <a:pt x="3882542" y="0"/>
                </a:lnTo>
                <a:lnTo>
                  <a:pt x="3882542" y="5649201"/>
                </a:lnTo>
                <a:lnTo>
                  <a:pt x="0" y="56492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01474" y="1028700"/>
            <a:ext cx="898770" cy="756494"/>
          </a:xfrm>
          <a:custGeom>
            <a:avLst/>
            <a:gdLst/>
            <a:ahLst/>
            <a:cxnLst/>
            <a:rect r="r" b="b" t="t" l="l"/>
            <a:pathLst>
              <a:path h="756494" w="898770">
                <a:moveTo>
                  <a:pt x="0" y="0"/>
                </a:moveTo>
                <a:lnTo>
                  <a:pt x="898771" y="0"/>
                </a:lnTo>
                <a:lnTo>
                  <a:pt x="898771" y="756494"/>
                </a:lnTo>
                <a:lnTo>
                  <a:pt x="0" y="7564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2700000">
            <a:off x="7802116" y="-1534498"/>
            <a:ext cx="16073585" cy="8036793"/>
            <a:chOff x="0" y="0"/>
            <a:chExt cx="812800" cy="406400"/>
          </a:xfrm>
        </p:grpSpPr>
        <p:sp>
          <p:nvSpPr>
            <p:cNvPr name="Freeform 5" id="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2A2A6D"/>
            </a:solidFill>
          </p:spPr>
        </p:sp>
        <p:sp>
          <p:nvSpPr>
            <p:cNvPr name="TextBox 6" id="6"/>
            <p:cNvSpPr txBox="true"/>
            <p:nvPr/>
          </p:nvSpPr>
          <p:spPr>
            <a:xfrm>
              <a:off x="0" y="-190500"/>
              <a:ext cx="812800" cy="596900"/>
            </a:xfrm>
            <a:prstGeom prst="rect">
              <a:avLst/>
            </a:prstGeom>
          </p:spPr>
          <p:txBody>
            <a:bodyPr anchor="ctr" rtlCol="false" tIns="50800" lIns="50800" bIns="50800" rIns="50800"/>
            <a:lstStyle/>
            <a:p>
              <a:pPr algn="ctr">
                <a:lnSpc>
                  <a:spcPts val="4600"/>
                </a:lnSpc>
              </a:pPr>
            </a:p>
          </p:txBody>
        </p:sp>
      </p:grpSp>
      <p:sp>
        <p:nvSpPr>
          <p:cNvPr name="Freeform 7" id="7"/>
          <p:cNvSpPr/>
          <p:nvPr/>
        </p:nvSpPr>
        <p:spPr>
          <a:xfrm flipH="false" flipV="false" rot="0">
            <a:off x="8301944" y="866132"/>
            <a:ext cx="9340557" cy="9328881"/>
          </a:xfrm>
          <a:custGeom>
            <a:avLst/>
            <a:gdLst/>
            <a:ahLst/>
            <a:cxnLst/>
            <a:rect r="r" b="b" t="t" l="l"/>
            <a:pathLst>
              <a:path h="9328881" w="9340557">
                <a:moveTo>
                  <a:pt x="0" y="0"/>
                </a:moveTo>
                <a:lnTo>
                  <a:pt x="9340557" y="0"/>
                </a:lnTo>
                <a:lnTo>
                  <a:pt x="9340557" y="9328881"/>
                </a:lnTo>
                <a:lnTo>
                  <a:pt x="0" y="9328881"/>
                </a:lnTo>
                <a:lnTo>
                  <a:pt x="0" y="0"/>
                </a:lnTo>
                <a:close/>
              </a:path>
            </a:pathLst>
          </a:custGeom>
          <a:blipFill>
            <a:blip r:embed="rId6"/>
            <a:stretch>
              <a:fillRect l="0" t="0" r="0" b="0"/>
            </a:stretch>
          </a:blipFill>
        </p:spPr>
      </p:sp>
      <p:sp>
        <p:nvSpPr>
          <p:cNvPr name="Freeform 8" id="8"/>
          <p:cNvSpPr/>
          <p:nvPr/>
        </p:nvSpPr>
        <p:spPr>
          <a:xfrm flipH="false" flipV="false" rot="0">
            <a:off x="14423256" y="1522667"/>
            <a:ext cx="2386649" cy="2360612"/>
          </a:xfrm>
          <a:custGeom>
            <a:avLst/>
            <a:gdLst/>
            <a:ahLst/>
            <a:cxnLst/>
            <a:rect r="r" b="b" t="t" l="l"/>
            <a:pathLst>
              <a:path h="2360612" w="2386649">
                <a:moveTo>
                  <a:pt x="0" y="0"/>
                </a:moveTo>
                <a:lnTo>
                  <a:pt x="2386648" y="0"/>
                </a:lnTo>
                <a:lnTo>
                  <a:pt x="2386648" y="2360612"/>
                </a:lnTo>
                <a:lnTo>
                  <a:pt x="0" y="23606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912571" y="9776446"/>
            <a:ext cx="7781228" cy="877157"/>
          </a:xfrm>
          <a:custGeom>
            <a:avLst/>
            <a:gdLst/>
            <a:ahLst/>
            <a:cxnLst/>
            <a:rect r="r" b="b" t="t" l="l"/>
            <a:pathLst>
              <a:path h="877157" w="7781228">
                <a:moveTo>
                  <a:pt x="0" y="0"/>
                </a:moveTo>
                <a:lnTo>
                  <a:pt x="7781228" y="0"/>
                </a:lnTo>
                <a:lnTo>
                  <a:pt x="7781228" y="877157"/>
                </a:lnTo>
                <a:lnTo>
                  <a:pt x="0" y="8771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2700000">
            <a:off x="9566017" y="1397112"/>
            <a:ext cx="2891014" cy="441512"/>
            <a:chOff x="0" y="0"/>
            <a:chExt cx="2661101" cy="406400"/>
          </a:xfrm>
        </p:grpSpPr>
        <p:sp>
          <p:nvSpPr>
            <p:cNvPr name="Freeform 11" id="11"/>
            <p:cNvSpPr/>
            <p:nvPr/>
          </p:nvSpPr>
          <p:spPr>
            <a:xfrm flipH="false" flipV="false" rot="0">
              <a:off x="0" y="0"/>
              <a:ext cx="2661101" cy="406400"/>
            </a:xfrm>
            <a:custGeom>
              <a:avLst/>
              <a:gdLst/>
              <a:ahLst/>
              <a:cxnLst/>
              <a:rect r="r" b="b" t="t" l="l"/>
              <a:pathLst>
                <a:path h="406400" w="2661101">
                  <a:moveTo>
                    <a:pt x="2457901" y="0"/>
                  </a:moveTo>
                  <a:cubicBezTo>
                    <a:pt x="2570125" y="0"/>
                    <a:pt x="2661101" y="90976"/>
                    <a:pt x="2661101" y="203200"/>
                  </a:cubicBezTo>
                  <a:cubicBezTo>
                    <a:pt x="2661101" y="315424"/>
                    <a:pt x="2570125" y="406400"/>
                    <a:pt x="2457901" y="406400"/>
                  </a:cubicBezTo>
                  <a:lnTo>
                    <a:pt x="203200" y="406400"/>
                  </a:lnTo>
                  <a:cubicBezTo>
                    <a:pt x="90976" y="406400"/>
                    <a:pt x="0" y="315424"/>
                    <a:pt x="0" y="203200"/>
                  </a:cubicBezTo>
                  <a:cubicBezTo>
                    <a:pt x="0" y="90976"/>
                    <a:pt x="90976" y="0"/>
                    <a:pt x="203200" y="0"/>
                  </a:cubicBezTo>
                  <a:close/>
                </a:path>
              </a:pathLst>
            </a:custGeom>
            <a:solidFill>
              <a:srgbClr val="62D7D7"/>
            </a:solidFill>
          </p:spPr>
        </p:sp>
        <p:sp>
          <p:nvSpPr>
            <p:cNvPr name="TextBox 12" id="12"/>
            <p:cNvSpPr txBox="true"/>
            <p:nvPr/>
          </p:nvSpPr>
          <p:spPr>
            <a:xfrm>
              <a:off x="0" y="-190500"/>
              <a:ext cx="2661101" cy="596900"/>
            </a:xfrm>
            <a:prstGeom prst="rect">
              <a:avLst/>
            </a:prstGeom>
          </p:spPr>
          <p:txBody>
            <a:bodyPr anchor="ctr" rtlCol="false" tIns="50800" lIns="50800" bIns="50800" rIns="50800"/>
            <a:lstStyle/>
            <a:p>
              <a:pPr algn="ctr">
                <a:lnSpc>
                  <a:spcPts val="4600"/>
                </a:lnSpc>
              </a:pPr>
            </a:p>
          </p:txBody>
        </p:sp>
      </p:grpSp>
      <p:sp>
        <p:nvSpPr>
          <p:cNvPr name="TextBox 13" id="13"/>
          <p:cNvSpPr txBox="true"/>
          <p:nvPr/>
        </p:nvSpPr>
        <p:spPr>
          <a:xfrm rot="0">
            <a:off x="1501474" y="4173537"/>
            <a:ext cx="7354222" cy="2727326"/>
          </a:xfrm>
          <a:prstGeom prst="rect">
            <a:avLst/>
          </a:prstGeom>
        </p:spPr>
        <p:txBody>
          <a:bodyPr anchor="t" rtlCol="false" tIns="0" lIns="0" bIns="0" rIns="0">
            <a:spAutoFit/>
          </a:bodyPr>
          <a:lstStyle/>
          <a:p>
            <a:pPr algn="l">
              <a:lnSpc>
                <a:spcPts val="9500"/>
              </a:lnSpc>
            </a:pPr>
            <a:r>
              <a:rPr lang="en-US" sz="9500" b="true">
                <a:solidFill>
                  <a:srgbClr val="2A2A6D"/>
                </a:solidFill>
                <a:latin typeface="Helvetica World Bold"/>
                <a:ea typeface="Helvetica World Bold"/>
                <a:cs typeface="Helvetica World Bold"/>
                <a:sym typeface="Helvetica World Bold"/>
              </a:rPr>
              <a:t>TERIMA KASIH !</a:t>
            </a:r>
          </a:p>
        </p:txBody>
      </p:sp>
      <p:sp>
        <p:nvSpPr>
          <p:cNvPr name="TextBox 14" id="14"/>
          <p:cNvSpPr txBox="true"/>
          <p:nvPr/>
        </p:nvSpPr>
        <p:spPr>
          <a:xfrm rot="0">
            <a:off x="1501474" y="3462337"/>
            <a:ext cx="7098792" cy="530225"/>
          </a:xfrm>
          <a:prstGeom prst="rect">
            <a:avLst/>
          </a:prstGeom>
        </p:spPr>
        <p:txBody>
          <a:bodyPr anchor="t" rtlCol="false" tIns="0" lIns="0" bIns="0" rIns="0">
            <a:spAutoFit/>
          </a:bodyPr>
          <a:lstStyle/>
          <a:p>
            <a:pPr algn="l">
              <a:lnSpc>
                <a:spcPts val="3999"/>
              </a:lnSpc>
            </a:pPr>
            <a:r>
              <a:rPr lang="en-US" sz="3999">
                <a:solidFill>
                  <a:srgbClr val="2A2A6D"/>
                </a:solidFill>
                <a:latin typeface="Helvetica World"/>
                <a:ea typeface="Helvetica World"/>
                <a:cs typeface="Helvetica World"/>
                <a:sym typeface="Helvetica World"/>
              </a:rPr>
              <a:t>SEKIAN DAN</a:t>
            </a:r>
          </a:p>
        </p:txBody>
      </p:sp>
      <p:sp>
        <p:nvSpPr>
          <p:cNvPr name="Freeform 15" id="15"/>
          <p:cNvSpPr/>
          <p:nvPr/>
        </p:nvSpPr>
        <p:spPr>
          <a:xfrm flipH="false" flipV="false" rot="0">
            <a:off x="16409417" y="9496544"/>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11">
              <a:extLst>
                <a:ext uri="{96DAC541-7B7A-43D3-8B79-37D633B846F1}">
                  <asvg:svgBlip xmlns:asvg="http://schemas.microsoft.com/office/drawing/2016/SVG/main" r:embed="rId12"/>
                </a:ext>
              </a:extLst>
            </a:blip>
            <a:stretch>
              <a:fillRect l="-102703" t="0" r="0" b="-369196"/>
            </a:stretch>
          </a:blipFill>
        </p:spPr>
      </p:sp>
      <p:sp>
        <p:nvSpPr>
          <p:cNvPr name="Freeform 16" id="16"/>
          <p:cNvSpPr/>
          <p:nvPr/>
        </p:nvSpPr>
        <p:spPr>
          <a:xfrm flipH="false" flipV="false" rot="0">
            <a:off x="6868657" y="758925"/>
            <a:ext cx="1020938" cy="444299"/>
          </a:xfrm>
          <a:custGeom>
            <a:avLst/>
            <a:gdLst/>
            <a:ahLst/>
            <a:cxnLst/>
            <a:rect r="r" b="b" t="t" l="l"/>
            <a:pathLst>
              <a:path h="444299" w="1020938">
                <a:moveTo>
                  <a:pt x="0" y="0"/>
                </a:moveTo>
                <a:lnTo>
                  <a:pt x="1020937" y="0"/>
                </a:lnTo>
                <a:lnTo>
                  <a:pt x="1020937" y="444300"/>
                </a:lnTo>
                <a:lnTo>
                  <a:pt x="0" y="444300"/>
                </a:lnTo>
                <a:lnTo>
                  <a:pt x="0" y="0"/>
                </a:lnTo>
                <a:close/>
              </a:path>
            </a:pathLst>
          </a:custGeom>
          <a:blipFill>
            <a:blip r:embed="rId11">
              <a:extLst>
                <a:ext uri="{96DAC541-7B7A-43D3-8B79-37D633B846F1}">
                  <asvg:svgBlip xmlns:asvg="http://schemas.microsoft.com/office/drawing/2016/SVG/main" r:embed="rId12"/>
                </a:ext>
              </a:extLst>
            </a:blip>
            <a:stretch>
              <a:fillRect l="-102703" t="0" r="0" b="-369196"/>
            </a:stretch>
          </a:blipFill>
        </p:spPr>
      </p:sp>
      <p:grpSp>
        <p:nvGrpSpPr>
          <p:cNvPr name="Group 17" id="17"/>
          <p:cNvGrpSpPr/>
          <p:nvPr/>
        </p:nvGrpSpPr>
        <p:grpSpPr>
          <a:xfrm rot="-2700000">
            <a:off x="16576857" y="5247254"/>
            <a:ext cx="3710328" cy="566637"/>
            <a:chOff x="0" y="0"/>
            <a:chExt cx="2661101" cy="406400"/>
          </a:xfrm>
        </p:grpSpPr>
        <p:sp>
          <p:nvSpPr>
            <p:cNvPr name="Freeform 18" id="18"/>
            <p:cNvSpPr/>
            <p:nvPr/>
          </p:nvSpPr>
          <p:spPr>
            <a:xfrm flipH="false" flipV="false" rot="0">
              <a:off x="0" y="0"/>
              <a:ext cx="2661101" cy="406400"/>
            </a:xfrm>
            <a:custGeom>
              <a:avLst/>
              <a:gdLst/>
              <a:ahLst/>
              <a:cxnLst/>
              <a:rect r="r" b="b" t="t" l="l"/>
              <a:pathLst>
                <a:path h="406400" w="2661101">
                  <a:moveTo>
                    <a:pt x="2457901" y="0"/>
                  </a:moveTo>
                  <a:cubicBezTo>
                    <a:pt x="2570125" y="0"/>
                    <a:pt x="2661101" y="90976"/>
                    <a:pt x="2661101" y="203200"/>
                  </a:cubicBezTo>
                  <a:cubicBezTo>
                    <a:pt x="2661101" y="315424"/>
                    <a:pt x="2570125" y="406400"/>
                    <a:pt x="2457901" y="406400"/>
                  </a:cubicBezTo>
                  <a:lnTo>
                    <a:pt x="203200" y="406400"/>
                  </a:lnTo>
                  <a:cubicBezTo>
                    <a:pt x="90976" y="406400"/>
                    <a:pt x="0" y="315424"/>
                    <a:pt x="0" y="203200"/>
                  </a:cubicBezTo>
                  <a:cubicBezTo>
                    <a:pt x="0" y="90976"/>
                    <a:pt x="90976" y="0"/>
                    <a:pt x="203200" y="0"/>
                  </a:cubicBezTo>
                  <a:close/>
                </a:path>
              </a:pathLst>
            </a:custGeom>
            <a:solidFill>
              <a:srgbClr val="62D7D7"/>
            </a:solidFill>
          </p:spPr>
        </p:sp>
        <p:sp>
          <p:nvSpPr>
            <p:cNvPr name="TextBox 19" id="19"/>
            <p:cNvSpPr txBox="true"/>
            <p:nvPr/>
          </p:nvSpPr>
          <p:spPr>
            <a:xfrm>
              <a:off x="0" y="-190500"/>
              <a:ext cx="2661101" cy="596900"/>
            </a:xfrm>
            <a:prstGeom prst="rect">
              <a:avLst/>
            </a:prstGeom>
          </p:spPr>
          <p:txBody>
            <a:bodyPr anchor="ctr" rtlCol="false" tIns="50800" lIns="50800" bIns="50800" rIns="50800"/>
            <a:lstStyle/>
            <a:p>
              <a:pPr algn="ctr">
                <a:lnSpc>
                  <a:spcPts val="4600"/>
                </a:lnSpc>
              </a:pPr>
            </a:p>
          </p:txBody>
        </p:sp>
      </p:grpSp>
      <p:sp>
        <p:nvSpPr>
          <p:cNvPr name="Freeform 20" id="20"/>
          <p:cNvSpPr/>
          <p:nvPr/>
        </p:nvSpPr>
        <p:spPr>
          <a:xfrm flipH="false" flipV="false" rot="0">
            <a:off x="7601602" y="8124434"/>
            <a:ext cx="1732906" cy="922773"/>
          </a:xfrm>
          <a:custGeom>
            <a:avLst/>
            <a:gdLst/>
            <a:ahLst/>
            <a:cxnLst/>
            <a:rect r="r" b="b" t="t" l="l"/>
            <a:pathLst>
              <a:path h="922773" w="1732906">
                <a:moveTo>
                  <a:pt x="0" y="0"/>
                </a:moveTo>
                <a:lnTo>
                  <a:pt x="1732907" y="0"/>
                </a:lnTo>
                <a:lnTo>
                  <a:pt x="1732907" y="922773"/>
                </a:lnTo>
                <a:lnTo>
                  <a:pt x="0" y="92277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1" id="21"/>
          <p:cNvSpPr txBox="true"/>
          <p:nvPr/>
        </p:nvSpPr>
        <p:spPr>
          <a:xfrm rot="0">
            <a:off x="2618796" y="1154534"/>
            <a:ext cx="3058641" cy="466726"/>
          </a:xfrm>
          <a:prstGeom prst="rect">
            <a:avLst/>
          </a:prstGeom>
        </p:spPr>
        <p:txBody>
          <a:bodyPr anchor="t" rtlCol="false" tIns="0" lIns="0" bIns="0" rIns="0">
            <a:spAutoFit/>
          </a:bodyPr>
          <a:lstStyle/>
          <a:p>
            <a:pPr algn="l">
              <a:lnSpc>
                <a:spcPts val="3749"/>
              </a:lnSpc>
            </a:pPr>
            <a:r>
              <a:rPr lang="en-US" sz="2499" b="true">
                <a:solidFill>
                  <a:srgbClr val="2A2A6D"/>
                </a:solidFill>
                <a:latin typeface="Helvetica World Bold"/>
                <a:ea typeface="Helvetica World Bold"/>
                <a:cs typeface="Helvetica World Bold"/>
                <a:sym typeface="Helvetica World Bold"/>
              </a:rPr>
              <a:t>Kecerdasan Buatan</a:t>
            </a:r>
          </a:p>
        </p:txBody>
      </p:sp>
      <p:sp>
        <p:nvSpPr>
          <p:cNvPr name="Freeform 22" id="22"/>
          <p:cNvSpPr/>
          <p:nvPr/>
        </p:nvSpPr>
        <p:spPr>
          <a:xfrm flipH="false" flipV="false" rot="0">
            <a:off x="15934159" y="8964750"/>
            <a:ext cx="2219822" cy="1230263"/>
          </a:xfrm>
          <a:custGeom>
            <a:avLst/>
            <a:gdLst/>
            <a:ahLst/>
            <a:cxnLst/>
            <a:rect r="r" b="b" t="t" l="l"/>
            <a:pathLst>
              <a:path h="1230263" w="2219822">
                <a:moveTo>
                  <a:pt x="0" y="0"/>
                </a:moveTo>
                <a:lnTo>
                  <a:pt x="2219821" y="0"/>
                </a:lnTo>
                <a:lnTo>
                  <a:pt x="2219821" y="1230263"/>
                </a:lnTo>
                <a:lnTo>
                  <a:pt x="0" y="1230263"/>
                </a:lnTo>
                <a:lnTo>
                  <a:pt x="0" y="0"/>
                </a:lnTo>
                <a:close/>
              </a:path>
            </a:pathLst>
          </a:custGeom>
          <a:blipFill>
            <a:blip r:embed="rId15"/>
            <a:stretch>
              <a:fillRect l="0" t="0" r="0" b="0"/>
            </a:stretch>
          </a:blipFill>
        </p:spPr>
      </p:sp>
      <p:grpSp>
        <p:nvGrpSpPr>
          <p:cNvPr name="Group 23" id="23"/>
          <p:cNvGrpSpPr>
            <a:grpSpLocks noChangeAspect="true"/>
          </p:cNvGrpSpPr>
          <p:nvPr/>
        </p:nvGrpSpPr>
        <p:grpSpPr>
          <a:xfrm rot="0">
            <a:off x="9613917" y="2049278"/>
            <a:ext cx="6716612" cy="6716612"/>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FFFFFF"/>
            </a:solidFill>
          </p:spPr>
        </p:sp>
        <p:sp>
          <p:nvSpPr>
            <p:cNvPr name="Freeform 25" id="25"/>
            <p:cNvSpPr/>
            <p:nvPr/>
          </p:nvSpPr>
          <p:spPr>
            <a:xfrm flipH="false" flipV="false" rot="0">
              <a:off x="353169" y="339062"/>
              <a:ext cx="5643663" cy="5618537"/>
            </a:xfrm>
            <a:custGeom>
              <a:avLst/>
              <a:gdLst/>
              <a:ahLst/>
              <a:cxnLst/>
              <a:rect r="r" b="b" t="t" l="l"/>
              <a:pathLst>
                <a:path h="5618537" w="5643663">
                  <a:moveTo>
                    <a:pt x="2821831" y="28"/>
                  </a:moveTo>
                  <a:cubicBezTo>
                    <a:pt x="1815193" y="-4474"/>
                    <a:pt x="883090" y="529978"/>
                    <a:pt x="378467" y="1401009"/>
                  </a:cubicBezTo>
                  <a:cubicBezTo>
                    <a:pt x="-126156" y="2272040"/>
                    <a:pt x="-126156" y="3346496"/>
                    <a:pt x="378467" y="4217527"/>
                  </a:cubicBezTo>
                  <a:cubicBezTo>
                    <a:pt x="883090" y="5088559"/>
                    <a:pt x="1815193" y="5623010"/>
                    <a:pt x="2821831" y="5618508"/>
                  </a:cubicBezTo>
                  <a:cubicBezTo>
                    <a:pt x="3828469" y="5623010"/>
                    <a:pt x="4760572" y="5088559"/>
                    <a:pt x="5265195" y="4217527"/>
                  </a:cubicBezTo>
                  <a:cubicBezTo>
                    <a:pt x="5769818" y="3346496"/>
                    <a:pt x="5769818" y="2272040"/>
                    <a:pt x="5265195" y="1401009"/>
                  </a:cubicBezTo>
                  <a:cubicBezTo>
                    <a:pt x="4760572" y="529978"/>
                    <a:pt x="3828469" y="-4474"/>
                    <a:pt x="2821831" y="28"/>
                  </a:cubicBezTo>
                  <a:close/>
                </a:path>
              </a:pathLst>
            </a:custGeom>
            <a:blipFill>
              <a:blip r:embed="rId16"/>
              <a:stretch>
                <a:fillRect l="223" t="-24931" r="223" b="-2493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DAG9FsA9SUQ</dc:identifier>
  <dcterms:modified xsi:type="dcterms:W3CDTF">2011-08-01T06:04:30Z</dcterms:modified>
  <cp:revision>1</cp:revision>
  <dc:title>PPT_Project PDK_Kel.2</dc:title>
</cp:coreProperties>
</file>